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305" r:id="rId2"/>
    <p:sldId id="324" r:id="rId3"/>
    <p:sldId id="308" r:id="rId4"/>
    <p:sldId id="312" r:id="rId5"/>
    <p:sldId id="348" r:id="rId6"/>
    <p:sldId id="286" r:id="rId7"/>
    <p:sldId id="310" r:id="rId8"/>
    <p:sldId id="290" r:id="rId9"/>
    <p:sldId id="326" r:id="rId10"/>
    <p:sldId id="349" r:id="rId11"/>
    <p:sldId id="321" r:id="rId12"/>
    <p:sldId id="325" r:id="rId13"/>
    <p:sldId id="328" r:id="rId14"/>
    <p:sldId id="329" r:id="rId15"/>
    <p:sldId id="341" r:id="rId16"/>
    <p:sldId id="331" r:id="rId17"/>
    <p:sldId id="347" r:id="rId18"/>
    <p:sldId id="350" r:id="rId19"/>
    <p:sldId id="296" r:id="rId20"/>
    <p:sldId id="298" r:id="rId21"/>
    <p:sldId id="300" r:id="rId22"/>
    <p:sldId id="302" r:id="rId23"/>
    <p:sldId id="303" r:id="rId24"/>
    <p:sldId id="327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9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230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200" y="20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7212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>
            <a:extLst>
              <a:ext uri="{FF2B5EF4-FFF2-40B4-BE49-F238E27FC236}">
                <a16:creationId xmlns:a16="http://schemas.microsoft.com/office/drawing/2014/main" id="{D9B41D1E-4264-6A45-A22C-158D47EF3982}"/>
              </a:ext>
            </a:extLst>
          </p:cNvPr>
          <p:cNvSpPr/>
          <p:nvPr/>
        </p:nvSpPr>
        <p:spPr>
          <a:xfrm>
            <a:off x="0" y="0"/>
            <a:ext cx="317500" cy="5143500"/>
          </a:xfrm>
          <a:prstGeom prst="rect">
            <a:avLst/>
          </a:prstGeom>
          <a:solidFill>
            <a:srgbClr val="5B8D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BE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6861AB7A-36B3-274A-9726-ED270B206B62}"/>
              </a:ext>
            </a:extLst>
          </p:cNvPr>
          <p:cNvSpPr txBox="1"/>
          <p:nvPr/>
        </p:nvSpPr>
        <p:spPr>
          <a:xfrm>
            <a:off x="914400" y="762000"/>
            <a:ext cx="6350000" cy="228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nl-BE" sz="3600" b="1" dirty="0">
              <a:solidFill>
                <a:srgbClr val="1A1A1A"/>
              </a:solidFill>
              <a:latin typeface="Trebuchet MS"/>
            </a:endParaRPr>
          </a:p>
          <a:p>
            <a:pPr algn="l"/>
            <a:endParaRPr lang="nl-BE" sz="3600" b="1" dirty="0">
              <a:solidFill>
                <a:srgbClr val="1A1A1A"/>
              </a:solidFill>
              <a:latin typeface="Trebuchet MS"/>
            </a:endParaRPr>
          </a:p>
          <a:p>
            <a:pPr algn="l"/>
            <a:r>
              <a:rPr lang="nl-BE" sz="3600" b="1" dirty="0">
                <a:solidFill>
                  <a:srgbClr val="1A1A1A"/>
                </a:solidFill>
                <a:latin typeface="Trebuchet MS"/>
              </a:rPr>
              <a:t>Laten we samen tijd winnen</a:t>
            </a: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D4EE143A-12C2-CB4A-8589-0C5E1CD4194F}"/>
              </a:ext>
            </a:extLst>
          </p:cNvPr>
          <p:cNvSpPr txBox="1"/>
          <p:nvPr/>
        </p:nvSpPr>
        <p:spPr>
          <a:xfrm>
            <a:off x="914400" y="3175000"/>
            <a:ext cx="635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BE" sz="2000" i="1" dirty="0">
                <a:solidFill>
                  <a:srgbClr val="2C5F7C"/>
                </a:solidFill>
                <a:latin typeface="Trebuchet MS"/>
              </a:rPr>
              <a:t>Slimme, efficiënte interventies met impact</a:t>
            </a: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10AEC94F-3C1C-4540-9015-2D1DBD3C3FBD}"/>
              </a:ext>
            </a:extLst>
          </p:cNvPr>
          <p:cNvSpPr/>
          <p:nvPr/>
        </p:nvSpPr>
        <p:spPr>
          <a:xfrm>
            <a:off x="914400" y="2984500"/>
            <a:ext cx="4572000" cy="50800"/>
          </a:xfrm>
          <a:prstGeom prst="rect">
            <a:avLst/>
          </a:prstGeom>
          <a:solidFill>
            <a:srgbClr val="5B8D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BE"/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F51D899B-BED1-734B-BFD1-70C4C420BA0E}"/>
              </a:ext>
            </a:extLst>
          </p:cNvPr>
          <p:cNvSpPr txBox="1"/>
          <p:nvPr/>
        </p:nvSpPr>
        <p:spPr>
          <a:xfrm>
            <a:off x="914400" y="4318000"/>
            <a:ext cx="381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BE" sz="1600">
                <a:solidFill>
                  <a:srgbClr val="AAAAAA"/>
                </a:solidFill>
                <a:latin typeface="Calibri"/>
                <a:cs typeface="Calibri"/>
              </a:rPr>
              <a:t>Wim Pierson</a:t>
            </a:r>
          </a:p>
        </p:txBody>
      </p:sp>
    </p:spTree>
    <p:extLst>
      <p:ext uri="{BB962C8B-B14F-4D97-AF65-F5344CB8AC3E}">
        <p14:creationId xmlns:p14="http://schemas.microsoft.com/office/powerpoint/2010/main" val="540354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40"/>
          <p:cNvSpPr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41" name="T41"/>
          <p:cNvSpPr/>
          <p:nvPr/>
        </p:nvSpPr>
        <p:spPr>
          <a:xfrm>
            <a:off x="635000" y="228600"/>
            <a:ext cx="7772400" cy="50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ctr"/>
          <a:lstStyle/>
          <a:p>
            <a:pPr algn="l">
              <a:buNone/>
            </a:pPr>
            <a:r>
              <a:rPr lang="nl-NL" sz="2800" b="1" dirty="0">
                <a:solidFill>
                  <a:srgbClr val="1A1A1A"/>
                </a:solidFill>
                <a:latin typeface="Trebuchet MS"/>
              </a:rPr>
              <a:t>Inhoud</a:t>
            </a:r>
          </a:p>
        </p:txBody>
      </p:sp>
      <p:sp>
        <p:nvSpPr>
          <p:cNvPr id="42" name="R42"/>
          <p:cNvSpPr/>
          <p:nvPr/>
        </p:nvSpPr>
        <p:spPr>
          <a:xfrm>
            <a:off x="635000" y="762000"/>
            <a:ext cx="1524000" cy="38100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43" name="C43"/>
          <p:cNvSpPr/>
          <p:nvPr/>
        </p:nvSpPr>
        <p:spPr>
          <a:xfrm>
            <a:off x="635000" y="1117600"/>
            <a:ext cx="508000" cy="508000"/>
          </a:xfrm>
          <a:prstGeom prst="ellipse">
            <a:avLst/>
          </a:prstGeom>
          <a:solidFill>
            <a:srgbClr val="2C5F7C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nl-NL" sz="1400" b="1" dirty="0">
                <a:solidFill>
                  <a:srgbClr val="FFFFFF"/>
                </a:solidFill>
                <a:latin typeface="Trebuchet MS"/>
              </a:rPr>
              <a:t>01</a:t>
            </a:r>
          </a:p>
        </p:txBody>
      </p:sp>
      <p:sp>
        <p:nvSpPr>
          <p:cNvPr id="44" name="T44"/>
          <p:cNvSpPr/>
          <p:nvPr/>
        </p:nvSpPr>
        <p:spPr>
          <a:xfrm>
            <a:off x="1261687" y="1216198"/>
            <a:ext cx="127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ctr"/>
          <a:lstStyle/>
          <a:p>
            <a:pPr algn="l">
              <a:buNone/>
            </a:pPr>
            <a:r>
              <a:rPr lang="nl-NL" sz="1700" b="1" dirty="0">
                <a:solidFill>
                  <a:srgbClr val="2C5F7C"/>
                </a:solidFill>
                <a:latin typeface="Trebuchet MS"/>
              </a:rPr>
              <a:t>Intro</a:t>
            </a:r>
          </a:p>
        </p:txBody>
      </p:sp>
      <p:sp>
        <p:nvSpPr>
          <p:cNvPr id="45" name="R45"/>
          <p:cNvSpPr/>
          <p:nvPr/>
        </p:nvSpPr>
        <p:spPr>
          <a:xfrm>
            <a:off x="2540000" y="1092200"/>
            <a:ext cx="25400" cy="584200"/>
          </a:xfrm>
          <a:prstGeom prst="rect">
            <a:avLst/>
          </a:prstGeom>
          <a:solidFill>
            <a:srgbClr val="D6E6F2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46" name="T46"/>
          <p:cNvSpPr/>
          <p:nvPr/>
        </p:nvSpPr>
        <p:spPr>
          <a:xfrm>
            <a:off x="2730500" y="1016000"/>
            <a:ext cx="5715000" cy="7366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ctr"/>
          <a:lstStyle/>
          <a:p>
            <a:pPr algn="l">
              <a:buNone/>
            </a:pPr>
            <a:r>
              <a:rPr lang="nl-NL" sz="1400" dirty="0">
                <a:solidFill>
                  <a:srgbClr val="4A4A4A"/>
                </a:solidFill>
                <a:latin typeface="Calibri"/>
              </a:rPr>
              <a:t>Essentie &amp; visie</a:t>
            </a:r>
          </a:p>
        </p:txBody>
      </p:sp>
      <p:sp>
        <p:nvSpPr>
          <p:cNvPr id="47" name="R47"/>
          <p:cNvSpPr/>
          <p:nvPr/>
        </p:nvSpPr>
        <p:spPr>
          <a:xfrm>
            <a:off x="635000" y="1803400"/>
            <a:ext cx="7874000" cy="127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48" name="C48"/>
          <p:cNvSpPr/>
          <p:nvPr/>
        </p:nvSpPr>
        <p:spPr>
          <a:xfrm>
            <a:off x="635000" y="2006600"/>
            <a:ext cx="508000" cy="508000"/>
          </a:xfrm>
          <a:prstGeom prst="ellipse">
            <a:avLst/>
          </a:prstGeom>
          <a:solidFill>
            <a:srgbClr val="3A7A9B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nl-NL" sz="1400" b="1" dirty="0">
                <a:solidFill>
                  <a:srgbClr val="FFFFFF"/>
                </a:solidFill>
                <a:latin typeface="Trebuchet MS"/>
              </a:rPr>
              <a:t>02</a:t>
            </a:r>
          </a:p>
        </p:txBody>
      </p:sp>
      <p:sp>
        <p:nvSpPr>
          <p:cNvPr id="49" name="T49"/>
          <p:cNvSpPr/>
          <p:nvPr/>
        </p:nvSpPr>
        <p:spPr>
          <a:xfrm>
            <a:off x="1270000" y="2117667"/>
            <a:ext cx="127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ctr"/>
          <a:lstStyle/>
          <a:p>
            <a:pPr algn="l">
              <a:buNone/>
            </a:pPr>
            <a:r>
              <a:rPr lang="nl-NL" sz="1700" b="1" dirty="0">
                <a:solidFill>
                  <a:srgbClr val="3A7A9B"/>
                </a:solidFill>
                <a:latin typeface="Trebuchet MS"/>
              </a:rPr>
              <a:t>Context</a:t>
            </a:r>
          </a:p>
        </p:txBody>
      </p:sp>
      <p:sp>
        <p:nvSpPr>
          <p:cNvPr id="50" name="R50"/>
          <p:cNvSpPr/>
          <p:nvPr/>
        </p:nvSpPr>
        <p:spPr>
          <a:xfrm>
            <a:off x="2540000" y="1981200"/>
            <a:ext cx="25400" cy="584200"/>
          </a:xfrm>
          <a:prstGeom prst="rect">
            <a:avLst/>
          </a:prstGeom>
          <a:solidFill>
            <a:srgbClr val="D6E6F2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51" name="T51"/>
          <p:cNvSpPr/>
          <p:nvPr/>
        </p:nvSpPr>
        <p:spPr>
          <a:xfrm>
            <a:off x="2730500" y="1905000"/>
            <a:ext cx="5715000" cy="7366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ctr"/>
          <a:lstStyle/>
          <a:p>
            <a:pPr algn="l">
              <a:buNone/>
            </a:pPr>
            <a:r>
              <a:rPr lang="nl-NL" sz="1400" dirty="0">
                <a:solidFill>
                  <a:srgbClr val="4A4A4A"/>
                </a:solidFill>
                <a:latin typeface="Calibri"/>
              </a:rPr>
              <a:t>Technologische kansen  ·  Waar en hoe beginnen ?</a:t>
            </a:r>
          </a:p>
        </p:txBody>
      </p:sp>
      <p:sp>
        <p:nvSpPr>
          <p:cNvPr id="52" name="R52"/>
          <p:cNvSpPr/>
          <p:nvPr/>
        </p:nvSpPr>
        <p:spPr>
          <a:xfrm>
            <a:off x="635000" y="2692400"/>
            <a:ext cx="7874000" cy="127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53" name="C53"/>
          <p:cNvSpPr/>
          <p:nvPr/>
        </p:nvSpPr>
        <p:spPr>
          <a:xfrm>
            <a:off x="635000" y="2895600"/>
            <a:ext cx="508000" cy="508000"/>
          </a:xfrm>
          <a:prstGeom prst="ellipse">
            <a:avLst/>
          </a:prstGeom>
          <a:solidFill>
            <a:srgbClr val="5B8DB8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nl-NL" sz="1400" b="1" dirty="0">
                <a:solidFill>
                  <a:srgbClr val="FFFFFF"/>
                </a:solidFill>
                <a:latin typeface="Trebuchet MS"/>
              </a:rPr>
              <a:t>03</a:t>
            </a:r>
          </a:p>
        </p:txBody>
      </p:sp>
      <p:sp>
        <p:nvSpPr>
          <p:cNvPr id="54" name="T54"/>
          <p:cNvSpPr/>
          <p:nvPr/>
        </p:nvSpPr>
        <p:spPr>
          <a:xfrm>
            <a:off x="1278313" y="2998355"/>
            <a:ext cx="127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ctr"/>
          <a:lstStyle/>
          <a:p>
            <a:pPr algn="l">
              <a:buNone/>
            </a:pPr>
            <a:r>
              <a:rPr lang="nl-NL" sz="1700" b="1" dirty="0">
                <a:solidFill>
                  <a:srgbClr val="5B8DB8"/>
                </a:solidFill>
                <a:latin typeface="Trebuchet MS"/>
              </a:rPr>
              <a:t>Aanpak</a:t>
            </a:r>
          </a:p>
        </p:txBody>
      </p:sp>
      <p:sp>
        <p:nvSpPr>
          <p:cNvPr id="55" name="R55"/>
          <p:cNvSpPr/>
          <p:nvPr/>
        </p:nvSpPr>
        <p:spPr>
          <a:xfrm>
            <a:off x="2540000" y="2870200"/>
            <a:ext cx="25400" cy="584200"/>
          </a:xfrm>
          <a:prstGeom prst="rect">
            <a:avLst/>
          </a:prstGeom>
          <a:solidFill>
            <a:srgbClr val="D6E6F2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56" name="T56"/>
          <p:cNvSpPr/>
          <p:nvPr/>
        </p:nvSpPr>
        <p:spPr>
          <a:xfrm>
            <a:off x="2730500" y="2794000"/>
            <a:ext cx="5715000" cy="7366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ctr"/>
          <a:lstStyle/>
          <a:p>
            <a:pPr algn="l">
              <a:buNone/>
            </a:pPr>
            <a:r>
              <a:rPr lang="nl-NL" sz="1400" dirty="0">
                <a:solidFill>
                  <a:srgbClr val="4A4A4A"/>
                </a:solidFill>
                <a:latin typeface="Calibri"/>
              </a:rPr>
              <a:t>Jouw </a:t>
            </a:r>
            <a:r>
              <a:rPr lang="nl-NL" sz="1400" dirty="0" err="1">
                <a:solidFill>
                  <a:srgbClr val="4A4A4A"/>
                </a:solidFill>
                <a:latin typeface="Calibri"/>
              </a:rPr>
              <a:t>skill</a:t>
            </a:r>
            <a:r>
              <a:rPr lang="nl-NL" sz="1400" dirty="0">
                <a:solidFill>
                  <a:srgbClr val="4A4A4A"/>
                </a:solidFill>
                <a:latin typeface="Calibri"/>
              </a:rPr>
              <a:t> trainen · Principes van ondersteunen</a:t>
            </a:r>
          </a:p>
        </p:txBody>
      </p:sp>
      <p:sp>
        <p:nvSpPr>
          <p:cNvPr id="57" name="R57"/>
          <p:cNvSpPr/>
          <p:nvPr/>
        </p:nvSpPr>
        <p:spPr>
          <a:xfrm>
            <a:off x="635000" y="3581400"/>
            <a:ext cx="7874000" cy="127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58" name="C58"/>
          <p:cNvSpPr/>
          <p:nvPr/>
        </p:nvSpPr>
        <p:spPr>
          <a:xfrm>
            <a:off x="635000" y="3784600"/>
            <a:ext cx="508000" cy="508000"/>
          </a:xfrm>
          <a:prstGeom prst="ellipse">
            <a:avLst/>
          </a:prstGeom>
          <a:solidFill>
            <a:srgbClr val="8FA8BA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nl-NL" sz="1400" b="1" dirty="0">
                <a:solidFill>
                  <a:srgbClr val="FFFFFF"/>
                </a:solidFill>
                <a:latin typeface="Trebuchet MS"/>
              </a:rPr>
              <a:t>04</a:t>
            </a:r>
          </a:p>
        </p:txBody>
      </p:sp>
      <p:sp>
        <p:nvSpPr>
          <p:cNvPr id="59" name="T59"/>
          <p:cNvSpPr/>
          <p:nvPr/>
        </p:nvSpPr>
        <p:spPr>
          <a:xfrm>
            <a:off x="1270000" y="3879042"/>
            <a:ext cx="127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ctr"/>
          <a:lstStyle/>
          <a:p>
            <a:pPr algn="l">
              <a:buNone/>
            </a:pPr>
            <a:r>
              <a:rPr lang="nl-NL" sz="1700" b="1" dirty="0">
                <a:solidFill>
                  <a:srgbClr val="8FA8BA"/>
                </a:solidFill>
                <a:latin typeface="Trebuchet MS"/>
              </a:rPr>
              <a:t>Kader</a:t>
            </a:r>
          </a:p>
        </p:txBody>
      </p:sp>
      <p:sp>
        <p:nvSpPr>
          <p:cNvPr id="60" name="R60"/>
          <p:cNvSpPr/>
          <p:nvPr/>
        </p:nvSpPr>
        <p:spPr>
          <a:xfrm>
            <a:off x="2540000" y="3759200"/>
            <a:ext cx="25400" cy="584200"/>
          </a:xfrm>
          <a:prstGeom prst="rect">
            <a:avLst/>
          </a:prstGeom>
          <a:solidFill>
            <a:srgbClr val="D6E6F2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61" name="T61"/>
          <p:cNvSpPr/>
          <p:nvPr/>
        </p:nvSpPr>
        <p:spPr>
          <a:xfrm>
            <a:off x="2730500" y="3683000"/>
            <a:ext cx="5715000" cy="7366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ctr"/>
          <a:lstStyle/>
          <a:p>
            <a:pPr algn="l">
              <a:buNone/>
            </a:pPr>
            <a:r>
              <a:rPr lang="nl-NL" sz="1400" dirty="0">
                <a:solidFill>
                  <a:srgbClr val="4A4A4A"/>
                </a:solidFill>
                <a:latin typeface="Calibri"/>
              </a:rPr>
              <a:t>Scope ·  Risico’s &amp; aandachtspunten</a:t>
            </a:r>
          </a:p>
        </p:txBody>
      </p:sp>
      <p:sp>
        <p:nvSpPr>
          <p:cNvPr id="62" name="T62"/>
          <p:cNvSpPr/>
          <p:nvPr/>
        </p:nvSpPr>
        <p:spPr>
          <a:xfrm>
            <a:off x="8407400" y="4749800"/>
            <a:ext cx="457200" cy="2794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ctr"/>
          <a:lstStyle/>
          <a:p>
            <a:pPr algn="r">
              <a:buNone/>
            </a:pPr>
            <a:r>
              <a:rPr lang="nl-NL" sz="1400" dirty="0">
                <a:solidFill>
                  <a:srgbClr val="AAAAAA"/>
                </a:solidFill>
                <a:latin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26993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>
            <a:extLst>
              <a:ext uri="{FF2B5EF4-FFF2-40B4-BE49-F238E27FC236}">
                <a16:creationId xmlns:a16="http://schemas.microsoft.com/office/drawing/2014/main" id="{6A034AFF-DC5E-E34F-993D-C935FEAD1BB3}"/>
              </a:ext>
            </a:extLst>
          </p:cNvPr>
          <p:cNvSpPr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5B8D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BE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3366E729-4511-654C-8CEB-869EDA534659}"/>
              </a:ext>
            </a:extLst>
          </p:cNvPr>
          <p:cNvSpPr txBox="1"/>
          <p:nvPr/>
        </p:nvSpPr>
        <p:spPr>
          <a:xfrm>
            <a:off x="635000" y="279400"/>
            <a:ext cx="77724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BE" sz="2800" b="1">
                <a:solidFill>
                  <a:srgbClr val="1A1A1A"/>
                </a:solidFill>
                <a:latin typeface="Trebuchet MS"/>
              </a:rPr>
              <a:t>Waar draait het om?</a:t>
            </a: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5B469B6F-36E0-784D-9C01-BFBD12CFB7B2}"/>
              </a:ext>
            </a:extLst>
          </p:cNvPr>
          <p:cNvSpPr txBox="1"/>
          <p:nvPr/>
        </p:nvSpPr>
        <p:spPr>
          <a:xfrm>
            <a:off x="635000" y="1079500"/>
            <a:ext cx="7874000" cy="110799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endParaRPr lang="nl-BE" sz="2200" dirty="0">
              <a:solidFill>
                <a:srgbClr val="1A1A1A"/>
              </a:solidFill>
              <a:latin typeface="Trebuchet MS"/>
            </a:endParaRPr>
          </a:p>
          <a:p>
            <a:pPr algn="l"/>
            <a:r>
              <a:rPr lang="nl-BE" sz="2200" dirty="0">
                <a:solidFill>
                  <a:srgbClr val="1A1A1A"/>
                </a:solidFill>
                <a:latin typeface="Trebuchet MS"/>
              </a:rPr>
              <a:t>Saaie, repetitieve taken vervangen met doelgerichte, efficiënte optimalisaties — zodat jij tijd wint.</a:t>
            </a: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BD6152EE-BDBA-0A4D-984A-6C0F00F41CC7}"/>
              </a:ext>
            </a:extLst>
          </p:cNvPr>
          <p:cNvSpPr/>
          <p:nvPr/>
        </p:nvSpPr>
        <p:spPr>
          <a:xfrm>
            <a:off x="635000" y="2975610"/>
            <a:ext cx="2286000" cy="50800"/>
          </a:xfrm>
          <a:prstGeom prst="rect">
            <a:avLst/>
          </a:prstGeom>
          <a:solidFill>
            <a:srgbClr val="5B8D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BE"/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B31A5214-6BF9-284C-96C8-1C2F003A25DE}"/>
              </a:ext>
            </a:extLst>
          </p:cNvPr>
          <p:cNvSpPr txBox="1"/>
          <p:nvPr/>
        </p:nvSpPr>
        <p:spPr>
          <a:xfrm>
            <a:off x="635000" y="3204210"/>
            <a:ext cx="7874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BE" sz="1600" dirty="0">
                <a:solidFill>
                  <a:srgbClr val="4A4A4A"/>
                </a:solidFill>
                <a:latin typeface="Calibri"/>
                <a:cs typeface="Calibri"/>
              </a:rPr>
              <a:t>Mijn focus is faciliteren naar efficiëntie, op een zelfstandige manier.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D166DF3B-6BA6-1E40-9DC2-E6FE774052DB}"/>
              </a:ext>
            </a:extLst>
          </p:cNvPr>
          <p:cNvSpPr txBox="1"/>
          <p:nvPr/>
        </p:nvSpPr>
        <p:spPr>
          <a:xfrm>
            <a:off x="8407400" y="4749800"/>
            <a:ext cx="457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BE" sz="1400">
                <a:solidFill>
                  <a:srgbClr val="AAAAAA"/>
                </a:solidFill>
                <a:latin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80240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>
            <a:extLst>
              <a:ext uri="{FF2B5EF4-FFF2-40B4-BE49-F238E27FC236}">
                <a16:creationId xmlns:a16="http://schemas.microsoft.com/office/drawing/2014/main" id="{8DB466C6-5706-A04D-ADF0-6B9DC4105D7E}"/>
              </a:ext>
            </a:extLst>
          </p:cNvPr>
          <p:cNvSpPr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5B8D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BE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698A2FDB-4DAE-044A-887B-91ED2FF0F810}"/>
              </a:ext>
            </a:extLst>
          </p:cNvPr>
          <p:cNvSpPr txBox="1"/>
          <p:nvPr/>
        </p:nvSpPr>
        <p:spPr>
          <a:xfrm>
            <a:off x="635000" y="279400"/>
            <a:ext cx="77724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BE" sz="2800" b="1">
                <a:solidFill>
                  <a:srgbClr val="1A1A1A"/>
                </a:solidFill>
                <a:latin typeface="Trebuchet MS"/>
              </a:rPr>
              <a:t>Mijn visie</a:t>
            </a:r>
          </a:p>
        </p:txBody>
      </p:sp>
      <p:sp>
        <p:nvSpPr>
          <p:cNvPr id="50" name="R50"/>
          <p:cNvSpPr/>
          <p:nvPr/>
        </p:nvSpPr>
        <p:spPr>
          <a:xfrm>
            <a:off x="635000" y="914400"/>
            <a:ext cx="7874000" cy="34925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51" name="R51"/>
          <p:cNvSpPr/>
          <p:nvPr/>
        </p:nvSpPr>
        <p:spPr>
          <a:xfrm>
            <a:off x="787400" y="1066800"/>
            <a:ext cx="50800" cy="3175000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52" name="T52"/>
          <p:cNvSpPr/>
          <p:nvPr/>
        </p:nvSpPr>
        <p:spPr>
          <a:xfrm>
            <a:off x="990600" y="1016000"/>
            <a:ext cx="7366000" cy="787400"/>
          </a:xfrm>
          <a:prstGeom prst="rect">
            <a:avLst/>
          </a:prstGeom>
          <a:noFill/>
          <a:ln>
            <a:noFill/>
          </a:ln>
        </p:spPr>
        <p:txBody>
          <a:bodyPr wrap="square" lIns="72000" tIns="54000" rIns="72000" bIns="54000" anchor="t"/>
          <a:lstStyle/>
          <a:p>
            <a:pPr algn="l"/>
            <a:r>
              <a:rPr lang="nl-NL" sz="1700" b="1" dirty="0">
                <a:solidFill>
                  <a:srgbClr val="1A1A1A"/>
                </a:solidFill>
                <a:latin typeface="Trebuchet MS"/>
              </a:rPr>
              <a:t>Zelfstandig gebruik</a:t>
            </a:r>
          </a:p>
          <a:p>
            <a:pPr algn="l">
              <a:spcBef>
                <a:spcPts val="100"/>
              </a:spcBef>
            </a:pPr>
            <a:r>
              <a:rPr lang="nl-NL" sz="1400" dirty="0">
                <a:solidFill>
                  <a:srgbClr val="4A4A4A"/>
                </a:solidFill>
                <a:latin typeface="Calibri"/>
              </a:rPr>
              <a:t>Ondersteuning naar onafhankelijkheid, geen afhankelijkheid van mij.</a:t>
            </a:r>
          </a:p>
        </p:txBody>
      </p:sp>
      <p:sp>
        <p:nvSpPr>
          <p:cNvPr id="53" name="T53"/>
          <p:cNvSpPr/>
          <p:nvPr/>
        </p:nvSpPr>
        <p:spPr>
          <a:xfrm>
            <a:off x="990600" y="1803400"/>
            <a:ext cx="7366000" cy="787400"/>
          </a:xfrm>
          <a:prstGeom prst="rect">
            <a:avLst/>
          </a:prstGeom>
          <a:noFill/>
          <a:ln>
            <a:noFill/>
          </a:ln>
        </p:spPr>
        <p:txBody>
          <a:bodyPr wrap="square" lIns="72000" tIns="54000" rIns="72000" bIns="54000" anchor="t"/>
          <a:lstStyle/>
          <a:p>
            <a:pPr algn="l"/>
            <a:r>
              <a:rPr lang="nl-NL" sz="1700" b="1" dirty="0">
                <a:solidFill>
                  <a:srgbClr val="1A1A1A"/>
                </a:solidFill>
                <a:latin typeface="Trebuchet MS"/>
              </a:rPr>
              <a:t>Vastpakken en realiseren</a:t>
            </a:r>
          </a:p>
          <a:p>
            <a:pPr algn="l">
              <a:spcBef>
                <a:spcPts val="100"/>
              </a:spcBef>
            </a:pPr>
            <a:r>
              <a:rPr lang="nl-NL" sz="1400" dirty="0">
                <a:solidFill>
                  <a:srgbClr val="4A4A4A"/>
                </a:solidFill>
                <a:latin typeface="Calibri"/>
              </a:rPr>
              <a:t>Niet enkel advies, maar samen concreet bouwen en opleveren.</a:t>
            </a:r>
          </a:p>
        </p:txBody>
      </p:sp>
      <p:sp>
        <p:nvSpPr>
          <p:cNvPr id="54" name="T54"/>
          <p:cNvSpPr/>
          <p:nvPr/>
        </p:nvSpPr>
        <p:spPr>
          <a:xfrm>
            <a:off x="990600" y="2590800"/>
            <a:ext cx="7366000" cy="787400"/>
          </a:xfrm>
          <a:prstGeom prst="rect">
            <a:avLst/>
          </a:prstGeom>
          <a:noFill/>
          <a:ln>
            <a:noFill/>
          </a:ln>
        </p:spPr>
        <p:txBody>
          <a:bodyPr wrap="square" lIns="72000" tIns="54000" rIns="72000" bIns="54000" anchor="t"/>
          <a:lstStyle/>
          <a:p>
            <a:pPr algn="l"/>
            <a:r>
              <a:rPr lang="nl-NL" sz="1700" b="1" dirty="0">
                <a:solidFill>
                  <a:srgbClr val="1A1A1A"/>
                </a:solidFill>
                <a:latin typeface="Trebuchet MS"/>
              </a:rPr>
              <a:t>Gepersonaliseerd</a:t>
            </a:r>
          </a:p>
          <a:p>
            <a:pPr algn="l">
              <a:spcBef>
                <a:spcPts val="100"/>
              </a:spcBef>
            </a:pPr>
            <a:r>
              <a:rPr lang="nl-NL" sz="1400" dirty="0">
                <a:solidFill>
                  <a:srgbClr val="4A4A4A"/>
                </a:solidFill>
                <a:latin typeface="Calibri"/>
              </a:rPr>
              <a:t>Op maat van jouw business, jouw processen, jouw tools.</a:t>
            </a:r>
          </a:p>
        </p:txBody>
      </p:sp>
      <p:sp>
        <p:nvSpPr>
          <p:cNvPr id="55" name="T55"/>
          <p:cNvSpPr/>
          <p:nvPr/>
        </p:nvSpPr>
        <p:spPr>
          <a:xfrm>
            <a:off x="990600" y="3378200"/>
            <a:ext cx="7366000" cy="787400"/>
          </a:xfrm>
          <a:prstGeom prst="rect">
            <a:avLst/>
          </a:prstGeom>
          <a:noFill/>
          <a:ln>
            <a:noFill/>
          </a:ln>
        </p:spPr>
        <p:txBody>
          <a:bodyPr wrap="square" lIns="72000" tIns="54000" rIns="72000" bIns="54000" anchor="t"/>
          <a:lstStyle/>
          <a:p>
            <a:pPr algn="l"/>
            <a:r>
              <a:rPr lang="nl-NL" sz="1700" b="1" dirty="0">
                <a:solidFill>
                  <a:srgbClr val="1A1A1A"/>
                </a:solidFill>
                <a:latin typeface="Trebuchet MS"/>
              </a:rPr>
              <a:t>Het momentum is er steeds meer</a:t>
            </a:r>
          </a:p>
          <a:p>
            <a:pPr algn="l">
              <a:spcBef>
                <a:spcPts val="100"/>
              </a:spcBef>
            </a:pPr>
            <a:r>
              <a:rPr lang="nl-NL" sz="1400" dirty="0">
                <a:solidFill>
                  <a:srgbClr val="4A4A4A"/>
                </a:solidFill>
                <a:latin typeface="Calibri"/>
              </a:rPr>
              <a:t>Nauwelijks technische kennis nodig om mooie stappen te zetten.</a:t>
            </a:r>
          </a:p>
        </p:txBody>
      </p:sp>
      <p:sp>
        <p:nvSpPr>
          <p:cNvPr id="56" name="T56"/>
          <p:cNvSpPr/>
          <p:nvPr/>
        </p:nvSpPr>
        <p:spPr>
          <a:xfrm>
            <a:off x="635000" y="4508500"/>
            <a:ext cx="7874000" cy="330200"/>
          </a:xfrm>
          <a:prstGeom prst="rect">
            <a:avLst/>
          </a:prstGeom>
          <a:noFill/>
          <a:ln>
            <a:noFill/>
          </a:ln>
        </p:spPr>
        <p:txBody>
          <a:bodyPr wrap="square" lIns="72000" tIns="54000" rIns="72000" bIns="54000" anchor="ctr"/>
          <a:lstStyle/>
          <a:p>
            <a:pPr algn="l"/>
            <a:r>
              <a:rPr lang="nl-NL" sz="1500" i="1" dirty="0">
                <a:solidFill>
                  <a:srgbClr val="2C5F7C"/>
                </a:solidFill>
                <a:latin typeface="Calibri"/>
              </a:rPr>
              <a:t>Belangrijk is dat je je openstelt voor innovatie.</a:t>
            </a:r>
          </a:p>
        </p:txBody>
      </p:sp>
      <p:sp>
        <p:nvSpPr>
          <p:cNvPr id="57" name="T57"/>
          <p:cNvSpPr/>
          <p:nvPr/>
        </p:nvSpPr>
        <p:spPr>
          <a:xfrm>
            <a:off x="8407400" y="4749800"/>
            <a:ext cx="457200" cy="279400"/>
          </a:xfrm>
          <a:prstGeom prst="rect">
            <a:avLst/>
          </a:prstGeom>
          <a:noFill/>
          <a:ln>
            <a:noFill/>
          </a:ln>
        </p:spPr>
        <p:txBody>
          <a:bodyPr wrap="square" lIns="72000" tIns="54000" rIns="72000" bIns="54000" anchor="ctr"/>
          <a:lstStyle/>
          <a:p>
            <a:pPr algn="r"/>
            <a:r>
              <a:rPr lang="nl-NL" sz="1400" dirty="0">
                <a:solidFill>
                  <a:srgbClr val="AAAAAA"/>
                </a:solidFill>
                <a:latin typeface="Calibri"/>
              </a:rPr>
              <a:t>6</a:t>
            </a:r>
          </a:p>
        </p:txBody>
      </p:sp>
      <p:pic>
        <p:nvPicPr>
          <p:cNvPr id="1026" name="Picture 2" descr="visie - Probeleggen">
            <a:extLst>
              <a:ext uri="{FF2B5EF4-FFF2-40B4-BE49-F238E27FC236}">
                <a16:creationId xmlns:a16="http://schemas.microsoft.com/office/drawing/2014/main" id="{43EA0C86-8819-1109-0DBB-D472B8FEAF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909"/>
          <a:stretch>
            <a:fillRect/>
          </a:stretch>
        </p:blipFill>
        <p:spPr bwMode="auto">
          <a:xfrm>
            <a:off x="6708370" y="3014711"/>
            <a:ext cx="2144683" cy="1388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3998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>
            <a:extLst>
              <a:ext uri="{FF2B5EF4-FFF2-40B4-BE49-F238E27FC236}">
                <a16:creationId xmlns:a16="http://schemas.microsoft.com/office/drawing/2014/main" id="{8DB466C6-5706-A04D-ADF0-6B9DC4105D7E}"/>
              </a:ext>
            </a:extLst>
          </p:cNvPr>
          <p:cNvSpPr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5B8D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BE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698A2FDB-4DAE-044A-887B-91ED2FF0F810}"/>
              </a:ext>
            </a:extLst>
          </p:cNvPr>
          <p:cNvSpPr txBox="1"/>
          <p:nvPr/>
        </p:nvSpPr>
        <p:spPr>
          <a:xfrm>
            <a:off x="635000" y="279400"/>
            <a:ext cx="77724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BE" sz="2800" b="1">
                <a:solidFill>
                  <a:srgbClr val="1A1A1A"/>
                </a:solidFill>
                <a:latin typeface="Trebuchet MS"/>
              </a:rPr>
              <a:t>Waarom samen met mij?</a:t>
            </a:r>
          </a:p>
        </p:txBody>
      </p:sp>
      <p:sp>
        <p:nvSpPr>
          <p:cNvPr id="50" name="R50"/>
          <p:cNvSpPr/>
          <p:nvPr/>
        </p:nvSpPr>
        <p:spPr>
          <a:xfrm>
            <a:off x="635000" y="914400"/>
            <a:ext cx="7874000" cy="3492500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51" name="R51"/>
          <p:cNvSpPr/>
          <p:nvPr/>
        </p:nvSpPr>
        <p:spPr>
          <a:xfrm>
            <a:off x="787400" y="1066800"/>
            <a:ext cx="50800" cy="3175000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52" name="T52"/>
          <p:cNvSpPr/>
          <p:nvPr/>
        </p:nvSpPr>
        <p:spPr>
          <a:xfrm>
            <a:off x="990600" y="1016000"/>
            <a:ext cx="7366000" cy="787400"/>
          </a:xfrm>
          <a:prstGeom prst="rect">
            <a:avLst/>
          </a:prstGeom>
          <a:noFill/>
          <a:ln>
            <a:noFill/>
          </a:ln>
        </p:spPr>
        <p:txBody>
          <a:bodyPr wrap="square" lIns="72000" tIns="54000" rIns="72000" bIns="54000" anchor="t"/>
          <a:lstStyle/>
          <a:p>
            <a:pPr algn="l"/>
            <a:r>
              <a:rPr lang="nl-NL" sz="1700" b="1" dirty="0">
                <a:solidFill>
                  <a:srgbClr val="1A1A1A"/>
                </a:solidFill>
                <a:latin typeface="Trebuchet MS"/>
              </a:rPr>
              <a:t>15 jaar digitale ervaring</a:t>
            </a:r>
          </a:p>
          <a:p>
            <a:pPr algn="l">
              <a:spcBef>
                <a:spcPts val="100"/>
              </a:spcBef>
            </a:pPr>
            <a:r>
              <a:rPr lang="nl-NL" sz="1400" dirty="0">
                <a:solidFill>
                  <a:srgbClr val="4A4A4A"/>
                </a:solidFill>
                <a:latin typeface="Calibri"/>
              </a:rPr>
              <a:t>Van enterprise-projecten tot hands-on bouwen.</a:t>
            </a:r>
          </a:p>
        </p:txBody>
      </p:sp>
      <p:sp>
        <p:nvSpPr>
          <p:cNvPr id="53" name="T53"/>
          <p:cNvSpPr/>
          <p:nvPr/>
        </p:nvSpPr>
        <p:spPr>
          <a:xfrm>
            <a:off x="990600" y="1803400"/>
            <a:ext cx="7366000" cy="787400"/>
          </a:xfrm>
          <a:prstGeom prst="rect">
            <a:avLst/>
          </a:prstGeom>
          <a:noFill/>
          <a:ln>
            <a:noFill/>
          </a:ln>
        </p:spPr>
        <p:txBody>
          <a:bodyPr wrap="square" lIns="72000" tIns="54000" rIns="72000" bIns="54000" anchor="t"/>
          <a:lstStyle/>
          <a:p>
            <a:pPr algn="l"/>
            <a:r>
              <a:rPr lang="nl-NL" sz="1700" b="1" dirty="0">
                <a:solidFill>
                  <a:srgbClr val="1A1A1A"/>
                </a:solidFill>
                <a:latin typeface="Trebuchet MS"/>
              </a:rPr>
              <a:t>Analyse vóór actie</a:t>
            </a:r>
          </a:p>
          <a:p>
            <a:pPr algn="l">
              <a:spcBef>
                <a:spcPts val="100"/>
              </a:spcBef>
            </a:pPr>
            <a:r>
              <a:rPr lang="nl-NL" sz="1400" dirty="0">
                <a:solidFill>
                  <a:srgbClr val="4A4A4A"/>
                </a:solidFill>
                <a:latin typeface="Calibri"/>
              </a:rPr>
              <a:t>Ik help je eerst begrijpen wat je écht nodig hebt. De juiste vragen stellen is de halve oplossing.</a:t>
            </a:r>
          </a:p>
        </p:txBody>
      </p:sp>
      <p:sp>
        <p:nvSpPr>
          <p:cNvPr id="54" name="T54"/>
          <p:cNvSpPr/>
          <p:nvPr/>
        </p:nvSpPr>
        <p:spPr>
          <a:xfrm>
            <a:off x="990600" y="2590800"/>
            <a:ext cx="7366000" cy="787400"/>
          </a:xfrm>
          <a:prstGeom prst="rect">
            <a:avLst/>
          </a:prstGeom>
          <a:noFill/>
          <a:ln>
            <a:noFill/>
          </a:ln>
        </p:spPr>
        <p:txBody>
          <a:bodyPr wrap="square" lIns="72000" tIns="54000" rIns="72000" bIns="54000" anchor="t"/>
          <a:lstStyle/>
          <a:p>
            <a:pPr algn="l"/>
            <a:r>
              <a:rPr lang="nl-NL" sz="1700" b="1" dirty="0">
                <a:solidFill>
                  <a:srgbClr val="1A1A1A"/>
                </a:solidFill>
                <a:latin typeface="Trebuchet MS"/>
              </a:rPr>
              <a:t>Pragmatisch én oplossingsgericht</a:t>
            </a:r>
          </a:p>
          <a:p>
            <a:pPr algn="l">
              <a:spcBef>
                <a:spcPts val="100"/>
              </a:spcBef>
            </a:pPr>
            <a:r>
              <a:rPr lang="nl-NL" sz="1400" dirty="0">
                <a:solidFill>
                  <a:srgbClr val="4A4A4A"/>
                </a:solidFill>
                <a:latin typeface="Calibri"/>
              </a:rPr>
              <a:t>Ik combineer strategisch denken met de vaardigheid om het ook effectief te realiseren.</a:t>
            </a:r>
          </a:p>
        </p:txBody>
      </p:sp>
      <p:sp>
        <p:nvSpPr>
          <p:cNvPr id="55" name="T55"/>
          <p:cNvSpPr/>
          <p:nvPr/>
        </p:nvSpPr>
        <p:spPr>
          <a:xfrm>
            <a:off x="990600" y="3378200"/>
            <a:ext cx="7366000" cy="787400"/>
          </a:xfrm>
          <a:prstGeom prst="rect">
            <a:avLst/>
          </a:prstGeom>
          <a:noFill/>
          <a:ln>
            <a:noFill/>
          </a:ln>
        </p:spPr>
        <p:txBody>
          <a:bodyPr wrap="square" lIns="72000" tIns="54000" rIns="72000" bIns="54000" anchor="t"/>
          <a:lstStyle/>
          <a:p>
            <a:pPr algn="l"/>
            <a:r>
              <a:rPr lang="nl-NL" sz="1700" b="1" dirty="0">
                <a:solidFill>
                  <a:srgbClr val="1A1A1A"/>
                </a:solidFill>
                <a:latin typeface="Trebuchet MS"/>
              </a:rPr>
              <a:t>Jouw leerkurve verkorten</a:t>
            </a:r>
          </a:p>
          <a:p>
            <a:pPr algn="l">
              <a:spcBef>
                <a:spcPts val="100"/>
              </a:spcBef>
            </a:pPr>
            <a:r>
              <a:rPr lang="nl-NL" sz="1400" dirty="0">
                <a:solidFill>
                  <a:srgbClr val="4A4A4A"/>
                </a:solidFill>
                <a:latin typeface="Calibri"/>
              </a:rPr>
              <a:t>De eerste stappen zijn het lastigst. Ik breng je sneller voorbij dat punt.</a:t>
            </a:r>
          </a:p>
        </p:txBody>
      </p:sp>
      <p:sp>
        <p:nvSpPr>
          <p:cNvPr id="56" name="T56"/>
          <p:cNvSpPr/>
          <p:nvPr/>
        </p:nvSpPr>
        <p:spPr>
          <a:xfrm>
            <a:off x="635000" y="4508500"/>
            <a:ext cx="7874000" cy="330200"/>
          </a:xfrm>
          <a:prstGeom prst="rect">
            <a:avLst/>
          </a:prstGeom>
          <a:noFill/>
          <a:ln>
            <a:noFill/>
          </a:ln>
        </p:spPr>
        <p:txBody>
          <a:bodyPr wrap="square" lIns="72000" tIns="54000" rIns="72000" bIns="54000" anchor="ctr"/>
          <a:lstStyle/>
          <a:p>
            <a:r>
              <a:rPr lang="nl-NL" sz="1500" i="1" dirty="0">
                <a:solidFill>
                  <a:srgbClr val="2C5F7C"/>
                </a:solidFill>
                <a:latin typeface="Calibri"/>
              </a:rPr>
              <a:t>Door samen te analyseren, structureren en itereren behalen we sneller </a:t>
            </a:r>
            <a:r>
              <a:rPr lang="nl-NL" sz="1500" i="1" dirty="0">
                <a:solidFill>
                  <a:srgbClr val="2C5F7C"/>
                </a:solidFill>
              </a:rPr>
              <a:t>resultaat.</a:t>
            </a:r>
            <a:br>
              <a:rPr lang="nl-NL" sz="1500" i="1" dirty="0">
                <a:solidFill>
                  <a:srgbClr val="2C5F7C"/>
                </a:solidFill>
              </a:rPr>
            </a:br>
            <a:r>
              <a:rPr lang="nl-NL" sz="1500" i="1" dirty="0">
                <a:solidFill>
                  <a:srgbClr val="2C5F7C"/>
                </a:solidFill>
              </a:rPr>
              <a:t>Rekenvoorbeeld: bespaar je 2u/week? Dat is 100u/jaar aan teruggewonnen tijd.</a:t>
            </a:r>
            <a:endParaRPr lang="nl-NL" sz="1500" i="1" dirty="0">
              <a:solidFill>
                <a:srgbClr val="2C5F7C"/>
              </a:solidFill>
              <a:latin typeface="Calibri"/>
            </a:endParaRPr>
          </a:p>
        </p:txBody>
      </p:sp>
      <p:sp>
        <p:nvSpPr>
          <p:cNvPr id="57" name="T57"/>
          <p:cNvSpPr/>
          <p:nvPr/>
        </p:nvSpPr>
        <p:spPr>
          <a:xfrm>
            <a:off x="8407400" y="4749800"/>
            <a:ext cx="457200" cy="279400"/>
          </a:xfrm>
          <a:prstGeom prst="rect">
            <a:avLst/>
          </a:prstGeom>
          <a:noFill/>
          <a:ln>
            <a:noFill/>
          </a:ln>
        </p:spPr>
        <p:txBody>
          <a:bodyPr wrap="square" lIns="72000" tIns="54000" rIns="72000" bIns="54000" anchor="ctr"/>
          <a:lstStyle/>
          <a:p>
            <a:pPr algn="r"/>
            <a:r>
              <a:rPr lang="nl-NL" sz="1400" dirty="0">
                <a:solidFill>
                  <a:srgbClr val="AAAAAA"/>
                </a:solidFill>
                <a:latin typeface="Calibri"/>
              </a:rPr>
              <a:t>6</a:t>
            </a:r>
          </a:p>
        </p:txBody>
      </p:sp>
      <p:pic>
        <p:nvPicPr>
          <p:cNvPr id="1026" name="Picture 2" descr="visie - Probeleggen">
            <a:extLst>
              <a:ext uri="{FF2B5EF4-FFF2-40B4-BE49-F238E27FC236}">
                <a16:creationId xmlns:a16="http://schemas.microsoft.com/office/drawing/2014/main" id="{43EA0C86-8819-1109-0DBB-D472B8FEAF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909"/>
          <a:stretch>
            <a:fillRect/>
          </a:stretch>
        </p:blipFill>
        <p:spPr bwMode="auto">
          <a:xfrm>
            <a:off x="6708370" y="3014711"/>
            <a:ext cx="2144683" cy="1388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955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>
            <a:extLst>
              <a:ext uri="{FF2B5EF4-FFF2-40B4-BE49-F238E27FC236}">
                <a16:creationId xmlns:a16="http://schemas.microsoft.com/office/drawing/2014/main" id="{3C152CFA-B67C-0F40-8E61-B4FC626CD6EF}"/>
              </a:ext>
            </a:extLst>
          </p:cNvPr>
          <p:cNvSpPr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5B8D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BE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141675D8-51BC-F945-886D-53F15AEDA858}"/>
              </a:ext>
            </a:extLst>
          </p:cNvPr>
          <p:cNvSpPr txBox="1"/>
          <p:nvPr/>
        </p:nvSpPr>
        <p:spPr>
          <a:xfrm>
            <a:off x="635000" y="279400"/>
            <a:ext cx="77724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BE" sz="2800" b="1" dirty="0">
                <a:solidFill>
                  <a:srgbClr val="1A1A1A"/>
                </a:solidFill>
                <a:latin typeface="Trebuchet MS"/>
              </a:rPr>
              <a:t>AI biedt steeds meer kansen</a:t>
            </a:r>
          </a:p>
        </p:txBody>
      </p:sp>
      <p:sp>
        <p:nvSpPr>
          <p:cNvPr id="60" name="S60"/>
          <p:cNvSpPr/>
          <p:nvPr/>
        </p:nvSpPr>
        <p:spPr>
          <a:xfrm>
            <a:off x="635000" y="1662430"/>
            <a:ext cx="3746500" cy="355600"/>
          </a:xfrm>
          <a:prstGeom prst="roundRect">
            <a:avLst>
              <a:gd name="adj" fmla="val 16667"/>
            </a:avLst>
          </a:prstGeom>
          <a:solidFill>
            <a:srgbClr val="D6E6F2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61" name="T61"/>
          <p:cNvSpPr/>
          <p:nvPr/>
        </p:nvSpPr>
        <p:spPr>
          <a:xfrm>
            <a:off x="698500" y="1662430"/>
            <a:ext cx="3619500" cy="3556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l"/>
            <a:r>
              <a:rPr lang="nl-NL" sz="1600" b="1" dirty="0">
                <a:solidFill>
                  <a:srgbClr val="2C5F7C"/>
                </a:solidFill>
                <a:latin typeface="Trebuchet MS"/>
              </a:rPr>
              <a:t>De perceptie</a:t>
            </a:r>
          </a:p>
        </p:txBody>
      </p:sp>
      <p:sp>
        <p:nvSpPr>
          <p:cNvPr id="62" name="T62"/>
          <p:cNvSpPr/>
          <p:nvPr/>
        </p:nvSpPr>
        <p:spPr>
          <a:xfrm>
            <a:off x="635000" y="2106930"/>
            <a:ext cx="3746500" cy="1143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l"/>
            <a:r>
              <a:rPr lang="nl-NL" sz="1500" i="1" dirty="0">
                <a:solidFill>
                  <a:srgbClr val="4A4A4A"/>
                </a:solidFill>
                <a:latin typeface="Calibri"/>
              </a:rPr>
              <a:t>"AI is een bedreiging!"
"Het is te complex voor mij!"
”Zal het mij wel vooruit helpen?"</a:t>
            </a:r>
          </a:p>
        </p:txBody>
      </p:sp>
      <p:sp>
        <p:nvSpPr>
          <p:cNvPr id="63" name="S63"/>
          <p:cNvSpPr/>
          <p:nvPr/>
        </p:nvSpPr>
        <p:spPr>
          <a:xfrm>
            <a:off x="4762500" y="1662430"/>
            <a:ext cx="3746500" cy="355600"/>
          </a:xfrm>
          <a:prstGeom prst="roundRect">
            <a:avLst>
              <a:gd name="adj" fmla="val 16667"/>
            </a:avLst>
          </a:prstGeom>
          <a:solidFill>
            <a:srgbClr val="5B8DB8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64" name="T64"/>
          <p:cNvSpPr/>
          <p:nvPr/>
        </p:nvSpPr>
        <p:spPr>
          <a:xfrm>
            <a:off x="4826000" y="1662430"/>
            <a:ext cx="3619500" cy="3556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l"/>
            <a:r>
              <a:rPr lang="nl-NL" sz="1600" b="1" dirty="0">
                <a:solidFill>
                  <a:srgbClr val="FFFFFF"/>
                </a:solidFill>
                <a:latin typeface="Trebuchet MS"/>
              </a:rPr>
              <a:t>De realiteit</a:t>
            </a:r>
          </a:p>
        </p:txBody>
      </p:sp>
      <p:sp>
        <p:nvSpPr>
          <p:cNvPr id="65" name="T65"/>
          <p:cNvSpPr/>
          <p:nvPr/>
        </p:nvSpPr>
        <p:spPr>
          <a:xfrm>
            <a:off x="4762500" y="2106930"/>
            <a:ext cx="3746500" cy="1143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l"/>
            <a:r>
              <a:rPr lang="nl-NL" sz="1500" dirty="0">
                <a:solidFill>
                  <a:srgbClr val="4A4A4A"/>
                </a:solidFill>
                <a:latin typeface="Calibri"/>
              </a:rPr>
              <a:t>AI is een handige </a:t>
            </a:r>
            <a:r>
              <a:rPr lang="nl-NL" sz="1500" u="sng" dirty="0">
                <a:solidFill>
                  <a:srgbClr val="4A4A4A"/>
                </a:solidFill>
                <a:latin typeface="Calibri"/>
              </a:rPr>
              <a:t>assistent</a:t>
            </a:r>
            <a:r>
              <a:rPr lang="nl-NL" sz="1500" dirty="0">
                <a:solidFill>
                  <a:srgbClr val="4A4A4A"/>
                </a:solidFill>
                <a:latin typeface="Calibri"/>
              </a:rPr>
              <a:t>
Het is toegankelijker dan ooit</a:t>
            </a:r>
          </a:p>
          <a:p>
            <a:r>
              <a:rPr lang="nl-NL" sz="1500" dirty="0">
                <a:solidFill>
                  <a:srgbClr val="4A4A4A"/>
                </a:solidFill>
              </a:rPr>
              <a:t>Het versnelt wat je al doet</a:t>
            </a:r>
            <a:endParaRPr lang="nl-NL" sz="1500" dirty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66" name="T66"/>
          <p:cNvSpPr/>
          <p:nvPr/>
        </p:nvSpPr>
        <p:spPr>
          <a:xfrm>
            <a:off x="635000" y="4064000"/>
            <a:ext cx="787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l"/>
            <a:r>
              <a:rPr lang="nl-NL" sz="1600" i="1" dirty="0">
                <a:solidFill>
                  <a:srgbClr val="2C5F7C"/>
                </a:solidFill>
                <a:latin typeface="Calibri"/>
              </a:rPr>
              <a:t>De kloof tussen wie efficiënt werkt (</a:t>
            </a:r>
            <a:r>
              <a:rPr lang="nl-NL" sz="1600" i="1" dirty="0" err="1">
                <a:solidFill>
                  <a:srgbClr val="2C5F7C"/>
                </a:solidFill>
                <a:latin typeface="Calibri"/>
              </a:rPr>
              <a:t>ahv</a:t>
            </a:r>
            <a:r>
              <a:rPr lang="nl-NL" sz="1600" i="1" dirty="0">
                <a:solidFill>
                  <a:srgbClr val="2C5F7C"/>
                </a:solidFill>
                <a:latin typeface="Calibri"/>
              </a:rPr>
              <a:t> AI) en wie niet, groeit elke dag.</a:t>
            </a:r>
          </a:p>
        </p:txBody>
      </p:sp>
      <p:sp>
        <p:nvSpPr>
          <p:cNvPr id="67" name="T67"/>
          <p:cNvSpPr/>
          <p:nvPr/>
        </p:nvSpPr>
        <p:spPr>
          <a:xfrm>
            <a:off x="8407400" y="4749800"/>
            <a:ext cx="457200" cy="2794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r"/>
            <a:r>
              <a:rPr lang="nl-NL" sz="1400" dirty="0">
                <a:solidFill>
                  <a:srgbClr val="AAAAAA"/>
                </a:solidFill>
                <a:latin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60582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>
            <a:extLst>
              <a:ext uri="{FF2B5EF4-FFF2-40B4-BE49-F238E27FC236}">
                <a16:creationId xmlns:a16="http://schemas.microsoft.com/office/drawing/2014/main" id="{1CF7AD78-DBCA-7648-984B-664E3AB88CFD}"/>
              </a:ext>
            </a:extLst>
          </p:cNvPr>
          <p:cNvSpPr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5B8D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BE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87BE6AF9-1C4B-B148-A83B-C806A6EAF50B}"/>
              </a:ext>
            </a:extLst>
          </p:cNvPr>
          <p:cNvSpPr txBox="1"/>
          <p:nvPr/>
        </p:nvSpPr>
        <p:spPr>
          <a:xfrm>
            <a:off x="635000" y="279400"/>
            <a:ext cx="77724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BE" sz="2800" b="1" dirty="0">
                <a:solidFill>
                  <a:srgbClr val="1A1A1A"/>
                </a:solidFill>
                <a:latin typeface="Trebuchet MS"/>
              </a:rPr>
              <a:t>Probeer het uit en ervaar de winst</a:t>
            </a:r>
          </a:p>
        </p:txBody>
      </p:sp>
      <p:sp>
        <p:nvSpPr>
          <p:cNvPr id="50" name="R50"/>
          <p:cNvSpPr/>
          <p:nvPr/>
        </p:nvSpPr>
        <p:spPr>
          <a:xfrm>
            <a:off x="635000" y="1485900"/>
            <a:ext cx="5334000" cy="3111500"/>
          </a:xfrm>
          <a:prstGeom prst="roundRect">
            <a:avLst>
              <a:gd name="adj" fmla="val 5000"/>
            </a:avLst>
          </a:prstGeom>
          <a:solidFill>
            <a:srgbClr val="EDEFF2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51" name="T51"/>
          <p:cNvSpPr/>
          <p:nvPr/>
        </p:nvSpPr>
        <p:spPr>
          <a:xfrm>
            <a:off x="698500" y="1245870"/>
            <a:ext cx="5207000" cy="3300730"/>
          </a:xfrm>
          <a:prstGeom prst="rect">
            <a:avLst/>
          </a:prstGeom>
          <a:noFill/>
          <a:ln>
            <a:noFill/>
          </a:ln>
        </p:spPr>
        <p:txBody>
          <a:bodyPr wrap="square" lIns="72000" tIns="54000" rIns="72000" bIns="54000" anchor="t"/>
          <a:lstStyle/>
          <a:p>
            <a:pPr algn="l"/>
            <a:endParaRPr lang="nl-NL" sz="1800" b="1" dirty="0">
              <a:solidFill>
                <a:srgbClr val="4A4A4A"/>
              </a:solidFill>
              <a:latin typeface="Trebuchet MS"/>
            </a:endParaRPr>
          </a:p>
          <a:p>
            <a:pPr algn="l">
              <a:spcBef>
                <a:spcPts val="400"/>
              </a:spcBef>
            </a:pPr>
            <a:r>
              <a:rPr lang="nl-NL" sz="1600" i="1" dirty="0">
                <a:solidFill>
                  <a:srgbClr val="3D3D3D"/>
                </a:solidFill>
                <a:latin typeface="Calibri"/>
              </a:rPr>
              <a:t>"Het werkt zo, ik ben het zo gewoon"</a:t>
            </a:r>
          </a:p>
          <a:p>
            <a:pPr algn="l">
              <a:spcBef>
                <a:spcPts val="100"/>
              </a:spcBef>
            </a:pPr>
            <a:r>
              <a:rPr lang="nl-NL" sz="1400" dirty="0">
                <a:solidFill>
                  <a:srgbClr val="6B6B6B"/>
                </a:solidFill>
                <a:latin typeface="Calibri"/>
              </a:rPr>
              <a:t>Repetitieve taken voelen als normaal — maar ze vreten je tijd.</a:t>
            </a:r>
          </a:p>
          <a:p>
            <a:pPr algn="l">
              <a:spcBef>
                <a:spcPts val="400"/>
              </a:spcBef>
            </a:pPr>
            <a:endParaRPr lang="nl-NL" sz="1600" i="1" dirty="0">
              <a:solidFill>
                <a:srgbClr val="3D3D3D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lang="nl-NL" sz="1600" i="1" dirty="0">
                <a:solidFill>
                  <a:srgbClr val="3D3D3D"/>
                </a:solidFill>
                <a:latin typeface="Calibri"/>
              </a:rPr>
              <a:t>"Ik heb het al geprobeerd, tevergeefs"</a:t>
            </a:r>
          </a:p>
          <a:p>
            <a:pPr algn="l">
              <a:spcBef>
                <a:spcPts val="100"/>
              </a:spcBef>
            </a:pPr>
            <a:r>
              <a:rPr lang="nl-NL" sz="1400" dirty="0">
                <a:solidFill>
                  <a:srgbClr val="6B6B6B"/>
                </a:solidFill>
                <a:latin typeface="Calibri"/>
              </a:rPr>
              <a:t>Technologie evolueert snel. Wat gisteren niet lukte, kan vandaag wel.</a:t>
            </a:r>
          </a:p>
          <a:p>
            <a:pPr algn="l">
              <a:spcBef>
                <a:spcPts val="400"/>
              </a:spcBef>
            </a:pPr>
            <a:endParaRPr lang="nl-NL" sz="1600" i="1" dirty="0">
              <a:solidFill>
                <a:srgbClr val="3D3D3D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lang="nl-NL" sz="1600" i="1" dirty="0">
                <a:solidFill>
                  <a:srgbClr val="3D3D3D"/>
                </a:solidFill>
                <a:latin typeface="Calibri"/>
              </a:rPr>
              <a:t>"Ik weet niet waar ik moet beginnen"</a:t>
            </a:r>
          </a:p>
          <a:p>
            <a:pPr algn="l">
              <a:spcBef>
                <a:spcPts val="100"/>
              </a:spcBef>
            </a:pPr>
            <a:r>
              <a:rPr lang="nl-NL" sz="1400" dirty="0">
                <a:solidFill>
                  <a:srgbClr val="6B6B6B"/>
                </a:solidFill>
                <a:latin typeface="Calibri"/>
              </a:rPr>
              <a:t>Dat hoeft ook niet — samen kijken we waar de winst zit.</a:t>
            </a:r>
          </a:p>
          <a:p>
            <a:pPr algn="l">
              <a:spcBef>
                <a:spcPts val="400"/>
              </a:spcBef>
            </a:pPr>
            <a:endParaRPr lang="nl-NL" sz="1600" i="1" dirty="0">
              <a:solidFill>
                <a:srgbClr val="3D3D3D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lang="nl-NL" sz="1600" i="1" dirty="0">
                <a:solidFill>
                  <a:srgbClr val="3D3D3D"/>
                </a:solidFill>
                <a:latin typeface="Calibri"/>
              </a:rPr>
              <a:t>"Kost dat niet veel geld?"</a:t>
            </a:r>
          </a:p>
          <a:p>
            <a:pPr algn="l">
              <a:spcBef>
                <a:spcPts val="100"/>
              </a:spcBef>
            </a:pPr>
            <a:r>
              <a:rPr lang="nl-NL" sz="1400" dirty="0">
                <a:solidFill>
                  <a:srgbClr val="6B6B6B"/>
                </a:solidFill>
                <a:latin typeface="Calibri"/>
              </a:rPr>
              <a:t>We starten klein en afgelijnd. Geen grote investeringen nodig.</a:t>
            </a:r>
          </a:p>
        </p:txBody>
      </p:sp>
      <p:sp>
        <p:nvSpPr>
          <p:cNvPr id="52" name="R52"/>
          <p:cNvSpPr/>
          <p:nvPr/>
        </p:nvSpPr>
        <p:spPr>
          <a:xfrm>
            <a:off x="6197600" y="1485900"/>
            <a:ext cx="2476500" cy="3111500"/>
          </a:xfrm>
          <a:prstGeom prst="roundRect">
            <a:avLst>
              <a:gd name="adj" fmla="val 5000"/>
            </a:avLst>
          </a:prstGeom>
          <a:solidFill>
            <a:srgbClr val="5B8DB8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53" name="T53"/>
          <p:cNvSpPr/>
          <p:nvPr/>
        </p:nvSpPr>
        <p:spPr>
          <a:xfrm>
            <a:off x="6261100" y="1600200"/>
            <a:ext cx="2349500" cy="2837180"/>
          </a:xfrm>
          <a:prstGeom prst="rect">
            <a:avLst/>
          </a:prstGeom>
          <a:noFill/>
          <a:ln>
            <a:noFill/>
          </a:ln>
        </p:spPr>
        <p:txBody>
          <a:bodyPr wrap="square" lIns="72000" tIns="54000" rIns="72000" bIns="54000" anchor="ctr"/>
          <a:lstStyle/>
          <a:p>
            <a:pPr algn="ctr">
              <a:spcBef>
                <a:spcPts val="300"/>
              </a:spcBef>
            </a:pPr>
            <a:r>
              <a:rPr lang="nl-NL" sz="1800" dirty="0">
                <a:solidFill>
                  <a:srgbClr val="FFFFFF"/>
                </a:solidFill>
                <a:latin typeface="Calibri"/>
              </a:rPr>
              <a:t>Start met iets kleins</a:t>
            </a:r>
            <a:endParaRPr lang="nl-NL" dirty="0">
              <a:solidFill>
                <a:srgbClr val="FFFFFF"/>
              </a:solidFill>
              <a:latin typeface="Calibri"/>
            </a:endParaRPr>
          </a:p>
          <a:p>
            <a:pPr algn="ctr">
              <a:spcBef>
                <a:spcPts val="300"/>
              </a:spcBef>
            </a:pPr>
            <a:endParaRPr lang="nl-NL" sz="1800" dirty="0">
              <a:solidFill>
                <a:srgbClr val="FFFFFF"/>
              </a:solidFill>
              <a:latin typeface="Calibri"/>
            </a:endParaRPr>
          </a:p>
          <a:p>
            <a:pPr algn="ctr">
              <a:spcBef>
                <a:spcPts val="300"/>
              </a:spcBef>
            </a:pPr>
            <a:r>
              <a:rPr lang="nl-NL" dirty="0">
                <a:solidFill>
                  <a:srgbClr val="FFFFFF"/>
                </a:solidFill>
                <a:latin typeface="Calibri"/>
              </a:rPr>
              <a:t>Je krijgt ongetwijfeld de smaak te pakken</a:t>
            </a:r>
          </a:p>
          <a:p>
            <a:pPr algn="ctr">
              <a:spcBef>
                <a:spcPts val="300"/>
              </a:spcBef>
            </a:pPr>
            <a:endParaRPr lang="nl-NL" sz="1800" dirty="0">
              <a:solidFill>
                <a:srgbClr val="FFFFFF"/>
              </a:solidFill>
              <a:latin typeface="Calibri"/>
            </a:endParaRPr>
          </a:p>
          <a:p>
            <a:pPr algn="ctr">
              <a:spcBef>
                <a:spcPts val="100"/>
              </a:spcBef>
            </a:pPr>
            <a:r>
              <a:rPr lang="nl-NL" dirty="0">
                <a:solidFill>
                  <a:srgbClr val="FFFFFF"/>
                </a:solidFill>
                <a:latin typeface="Calibri"/>
              </a:rPr>
              <a:t>I</a:t>
            </a:r>
            <a:r>
              <a:rPr lang="nl-NL" sz="1800" dirty="0">
                <a:solidFill>
                  <a:srgbClr val="FFFFFF"/>
                </a:solidFill>
                <a:latin typeface="Calibri"/>
              </a:rPr>
              <a:t>k help je graag verder</a:t>
            </a:r>
          </a:p>
        </p:txBody>
      </p:sp>
      <p:sp>
        <p:nvSpPr>
          <p:cNvPr id="54" name="T54"/>
          <p:cNvSpPr/>
          <p:nvPr/>
        </p:nvSpPr>
        <p:spPr>
          <a:xfrm>
            <a:off x="8407400" y="4749800"/>
            <a:ext cx="457200" cy="279400"/>
          </a:xfrm>
          <a:prstGeom prst="rect">
            <a:avLst/>
          </a:prstGeom>
          <a:noFill/>
          <a:ln>
            <a:noFill/>
          </a:ln>
        </p:spPr>
        <p:txBody>
          <a:bodyPr wrap="square" lIns="72000" tIns="54000" rIns="72000" bIns="54000" anchor="ctr"/>
          <a:lstStyle/>
          <a:p>
            <a:pPr algn="r"/>
            <a:r>
              <a:rPr lang="nl-NL" sz="1400" dirty="0">
                <a:solidFill>
                  <a:srgbClr val="AAAAAA"/>
                </a:solidFill>
                <a:latin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35605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>
            <a:extLst>
              <a:ext uri="{FF2B5EF4-FFF2-40B4-BE49-F238E27FC236}">
                <a16:creationId xmlns:a16="http://schemas.microsoft.com/office/drawing/2014/main" id="{9CD54D08-A751-2D4D-ADF7-CFD6C4808899}"/>
              </a:ext>
            </a:extLst>
          </p:cNvPr>
          <p:cNvSpPr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5B8D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BE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2B4B305A-C9A6-5149-AE57-22EFB0BEC167}"/>
              </a:ext>
            </a:extLst>
          </p:cNvPr>
          <p:cNvSpPr txBox="1"/>
          <p:nvPr/>
        </p:nvSpPr>
        <p:spPr>
          <a:xfrm>
            <a:off x="635000" y="279400"/>
            <a:ext cx="77724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BE" sz="2800" b="1">
                <a:solidFill>
                  <a:srgbClr val="1A1A1A"/>
                </a:solidFill>
                <a:latin typeface="Trebuchet MS"/>
              </a:rPr>
              <a:t>Hoe spot je kansen?</a:t>
            </a:r>
          </a:p>
        </p:txBody>
      </p:sp>
      <p:sp>
        <p:nvSpPr>
          <p:cNvPr id="50" name="C50"/>
          <p:cNvSpPr/>
          <p:nvPr/>
        </p:nvSpPr>
        <p:spPr>
          <a:xfrm>
            <a:off x="698500" y="1092200"/>
            <a:ext cx="508000" cy="508000"/>
          </a:xfrm>
          <a:prstGeom prst="ellipse">
            <a:avLst/>
          </a:prstGeom>
          <a:solidFill>
            <a:srgbClr val="5B8DB8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nl-NL" sz="1800" b="1" dirty="0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51" name="T51"/>
          <p:cNvSpPr/>
          <p:nvPr/>
        </p:nvSpPr>
        <p:spPr>
          <a:xfrm>
            <a:off x="1371600" y="1054100"/>
            <a:ext cx="7048500" cy="3302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l"/>
            <a:r>
              <a:rPr lang="nl-NL" sz="1700" b="1" dirty="0">
                <a:solidFill>
                  <a:srgbClr val="1A1A1A"/>
                </a:solidFill>
                <a:latin typeface="Trebuchet MS"/>
              </a:rPr>
              <a:t>Hou een week bij wat je doet</a:t>
            </a:r>
          </a:p>
        </p:txBody>
      </p:sp>
      <p:sp>
        <p:nvSpPr>
          <p:cNvPr id="52" name="T52"/>
          <p:cNvSpPr/>
          <p:nvPr/>
        </p:nvSpPr>
        <p:spPr>
          <a:xfrm>
            <a:off x="1371600" y="1421939"/>
            <a:ext cx="7048500" cy="3302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l"/>
            <a:r>
              <a:rPr lang="nl-NL" sz="1400" dirty="0">
                <a:solidFill>
                  <a:srgbClr val="4A4A4A"/>
                </a:solidFill>
                <a:latin typeface="Calibri"/>
              </a:rPr>
              <a:t>Welke tools gebruik je en waarom? </a:t>
            </a:r>
          </a:p>
          <a:p>
            <a:pPr algn="l"/>
            <a:r>
              <a:rPr lang="nl-NL" sz="1400" dirty="0">
                <a:solidFill>
                  <a:srgbClr val="4A4A4A"/>
                </a:solidFill>
                <a:latin typeface="Calibri"/>
              </a:rPr>
              <a:t>Waar heb je zelf het gevoel dat het anders kan?</a:t>
            </a:r>
          </a:p>
        </p:txBody>
      </p:sp>
      <p:sp>
        <p:nvSpPr>
          <p:cNvPr id="53" name="C53"/>
          <p:cNvSpPr/>
          <p:nvPr/>
        </p:nvSpPr>
        <p:spPr>
          <a:xfrm>
            <a:off x="698500" y="1917700"/>
            <a:ext cx="508000" cy="508000"/>
          </a:xfrm>
          <a:prstGeom prst="ellipse">
            <a:avLst/>
          </a:prstGeom>
          <a:solidFill>
            <a:srgbClr val="5B8DB8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nl-NL" sz="1800" b="1" dirty="0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54" name="T54"/>
          <p:cNvSpPr/>
          <p:nvPr/>
        </p:nvSpPr>
        <p:spPr>
          <a:xfrm>
            <a:off x="1371600" y="1879600"/>
            <a:ext cx="7048500" cy="3302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l"/>
            <a:r>
              <a:rPr lang="nl-NL" sz="1700" b="1" dirty="0">
                <a:solidFill>
                  <a:srgbClr val="1A1A1A"/>
                </a:solidFill>
                <a:latin typeface="Trebuchet MS"/>
              </a:rPr>
              <a:t>Omschrijf jouw 'probleem'</a:t>
            </a:r>
          </a:p>
        </p:txBody>
      </p:sp>
      <p:sp>
        <p:nvSpPr>
          <p:cNvPr id="55" name="T55"/>
          <p:cNvSpPr/>
          <p:nvPr/>
        </p:nvSpPr>
        <p:spPr>
          <a:xfrm>
            <a:off x="1371600" y="2222500"/>
            <a:ext cx="7048500" cy="3302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l"/>
            <a:r>
              <a:rPr lang="nl-NL" sz="1400" dirty="0">
                <a:solidFill>
                  <a:srgbClr val="4A4A4A"/>
                </a:solidFill>
                <a:latin typeface="Calibri"/>
              </a:rPr>
              <a:t>Wat zou je graag anders zien? Wat frustreert je?</a:t>
            </a:r>
          </a:p>
        </p:txBody>
      </p:sp>
      <p:sp>
        <p:nvSpPr>
          <p:cNvPr id="56" name="C56"/>
          <p:cNvSpPr/>
          <p:nvPr/>
        </p:nvSpPr>
        <p:spPr>
          <a:xfrm>
            <a:off x="698500" y="2743200"/>
            <a:ext cx="508000" cy="508000"/>
          </a:xfrm>
          <a:prstGeom prst="ellipse">
            <a:avLst/>
          </a:prstGeom>
          <a:solidFill>
            <a:srgbClr val="5B8DB8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nl-NL" sz="1800" b="1" dirty="0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57" name="T57"/>
          <p:cNvSpPr/>
          <p:nvPr/>
        </p:nvSpPr>
        <p:spPr>
          <a:xfrm>
            <a:off x="1371600" y="2705100"/>
            <a:ext cx="7048500" cy="3302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l"/>
            <a:r>
              <a:rPr lang="nl-NL" sz="1700" b="1" dirty="0">
                <a:solidFill>
                  <a:srgbClr val="1A1A1A"/>
                </a:solidFill>
                <a:latin typeface="Trebuchet MS"/>
              </a:rPr>
              <a:t>Denk in A → B</a:t>
            </a:r>
          </a:p>
        </p:txBody>
      </p:sp>
      <p:sp>
        <p:nvSpPr>
          <p:cNvPr id="58" name="T58"/>
          <p:cNvSpPr/>
          <p:nvPr/>
        </p:nvSpPr>
        <p:spPr>
          <a:xfrm>
            <a:off x="1371600" y="3048000"/>
            <a:ext cx="7048500" cy="3302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l"/>
            <a:r>
              <a:rPr lang="nl-NL" sz="1400" dirty="0">
                <a:solidFill>
                  <a:srgbClr val="4A4A4A"/>
                </a:solidFill>
                <a:latin typeface="Calibri"/>
              </a:rPr>
              <a:t>Waar sta je nu (A) en waar wil je naartoe (B)?</a:t>
            </a:r>
          </a:p>
        </p:txBody>
      </p:sp>
      <p:sp>
        <p:nvSpPr>
          <p:cNvPr id="59" name="C59"/>
          <p:cNvSpPr/>
          <p:nvPr/>
        </p:nvSpPr>
        <p:spPr>
          <a:xfrm>
            <a:off x="698500" y="3568700"/>
            <a:ext cx="508000" cy="508000"/>
          </a:xfrm>
          <a:prstGeom prst="ellipse">
            <a:avLst/>
          </a:prstGeom>
          <a:solidFill>
            <a:srgbClr val="5B8DB8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nl-NL" sz="1800" b="1" dirty="0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60" name="T60"/>
          <p:cNvSpPr/>
          <p:nvPr/>
        </p:nvSpPr>
        <p:spPr>
          <a:xfrm>
            <a:off x="1371600" y="3530600"/>
            <a:ext cx="7048500" cy="3302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l"/>
            <a:r>
              <a:rPr lang="nl-NL" sz="1700" b="1" dirty="0">
                <a:solidFill>
                  <a:srgbClr val="1A1A1A"/>
                </a:solidFill>
                <a:latin typeface="Trebuchet MS"/>
              </a:rPr>
              <a:t>Geef context en wens</a:t>
            </a:r>
          </a:p>
        </p:txBody>
      </p:sp>
      <p:sp>
        <p:nvSpPr>
          <p:cNvPr id="61" name="T61"/>
          <p:cNvSpPr/>
          <p:nvPr/>
        </p:nvSpPr>
        <p:spPr>
          <a:xfrm>
            <a:off x="1371600" y="3890126"/>
            <a:ext cx="7048500" cy="3302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l"/>
            <a:r>
              <a:rPr lang="nl-NL" sz="1400" dirty="0">
                <a:solidFill>
                  <a:srgbClr val="4A4A4A"/>
                </a:solidFill>
                <a:latin typeface="Calibri"/>
              </a:rPr>
              <a:t>Waarom? Wat gebeurt voor A en na B? </a:t>
            </a:r>
          </a:p>
          <a:p>
            <a:pPr algn="l"/>
            <a:r>
              <a:rPr lang="nl-NL" sz="1400" dirty="0">
                <a:solidFill>
                  <a:srgbClr val="4A4A4A"/>
                </a:solidFill>
                <a:latin typeface="Calibri"/>
              </a:rPr>
              <a:t>Wat is je ideale situatie? Is B de bestemming?</a:t>
            </a:r>
          </a:p>
        </p:txBody>
      </p:sp>
      <p:sp>
        <p:nvSpPr>
          <p:cNvPr id="62" name="T62"/>
          <p:cNvSpPr/>
          <p:nvPr/>
        </p:nvSpPr>
        <p:spPr>
          <a:xfrm>
            <a:off x="635000" y="4502266"/>
            <a:ext cx="7772400" cy="3302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l"/>
            <a:r>
              <a:rPr lang="nl-NL" sz="1500" i="1" dirty="0">
                <a:solidFill>
                  <a:srgbClr val="2C5F7C"/>
                </a:solidFill>
                <a:latin typeface="Calibri"/>
              </a:rPr>
              <a:t>💡 Tip: Hoog resultaat = (brede context + specifieke input) * iteratie</a:t>
            </a:r>
          </a:p>
        </p:txBody>
      </p:sp>
      <p:sp>
        <p:nvSpPr>
          <p:cNvPr id="63" name="T63"/>
          <p:cNvSpPr/>
          <p:nvPr/>
        </p:nvSpPr>
        <p:spPr>
          <a:xfrm>
            <a:off x="8407400" y="4749800"/>
            <a:ext cx="457200" cy="2794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l"/>
            <a:r>
              <a:rPr lang="nl-NL" sz="1400" dirty="0">
                <a:solidFill>
                  <a:srgbClr val="AAAAAA"/>
                </a:solidFill>
                <a:latin typeface="Calibri"/>
              </a:rPr>
              <a:t>5</a:t>
            </a:r>
          </a:p>
        </p:txBody>
      </p:sp>
      <p:pic>
        <p:nvPicPr>
          <p:cNvPr id="3074" name="Picture 2" descr="Doodle plan icon hand drawn infographic notepaper piece to do list project  planning 1 2 3 steps | Premium Vector">
            <a:extLst>
              <a:ext uri="{FF2B5EF4-FFF2-40B4-BE49-F238E27FC236}">
                <a16:creationId xmlns:a16="http://schemas.microsoft.com/office/drawing/2014/main" id="{CDDD4955-B53E-45D2-7B06-95EFC39988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26834">
            <a:off x="6427816" y="1064029"/>
            <a:ext cx="2716184" cy="271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683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D50EC0A-F7B9-98E7-5368-A4B506782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>
            <a:extLst>
              <a:ext uri="{FF2B5EF4-FFF2-40B4-BE49-F238E27FC236}">
                <a16:creationId xmlns:a16="http://schemas.microsoft.com/office/drawing/2014/main" id="{95AD3011-F4C5-3F4C-4852-B95357D5653D}"/>
              </a:ext>
            </a:extLst>
          </p:cNvPr>
          <p:cNvSpPr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5B8D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BE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4DB21216-F948-A7D1-65F4-E180C81D9B9A}"/>
              </a:ext>
            </a:extLst>
          </p:cNvPr>
          <p:cNvSpPr txBox="1"/>
          <p:nvPr/>
        </p:nvSpPr>
        <p:spPr>
          <a:xfrm>
            <a:off x="635000" y="279400"/>
            <a:ext cx="77724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BE" sz="2800" b="1" dirty="0">
                <a:solidFill>
                  <a:srgbClr val="1A1A1A"/>
                </a:solidFill>
                <a:latin typeface="Trebuchet MS"/>
              </a:rPr>
              <a:t>Voorbeelden, ideeën..</a:t>
            </a: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D6530194-C24D-9643-3C12-7C7FCFC9A852}"/>
              </a:ext>
            </a:extLst>
          </p:cNvPr>
          <p:cNvSpPr txBox="1"/>
          <p:nvPr/>
        </p:nvSpPr>
        <p:spPr>
          <a:xfrm>
            <a:off x="601749" y="1209156"/>
            <a:ext cx="7874000" cy="353943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BE" sz="1600" dirty="0">
                <a:solidFill>
                  <a:srgbClr val="4A4A4A"/>
                </a:solidFill>
                <a:latin typeface="Calibri"/>
                <a:cs typeface="Calibri"/>
              </a:rPr>
              <a:t>Specifieke optimalisaties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BE" sz="1600" dirty="0">
                <a:solidFill>
                  <a:srgbClr val="4A4A4A"/>
                </a:solidFill>
                <a:latin typeface="Calibri"/>
                <a:cs typeface="Calibri"/>
              </a:rPr>
              <a:t>Data verwerken en interpreteren met Excel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BE" sz="1600" dirty="0">
                <a:solidFill>
                  <a:srgbClr val="4A4A4A"/>
                </a:solidFill>
                <a:latin typeface="Calibri"/>
                <a:cs typeface="Calibri"/>
              </a:rPr>
              <a:t>Slides maken (visueel en inhoudelijk) met PowerPoint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BE" sz="1600" dirty="0">
                <a:solidFill>
                  <a:srgbClr val="4A4A4A"/>
                </a:solidFill>
                <a:latin typeface="Calibri"/>
                <a:cs typeface="Calibri"/>
              </a:rPr>
              <a:t>Mailtjes automatiseren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1600" dirty="0">
                <a:solidFill>
                  <a:srgbClr val="4A4A4A"/>
                </a:solidFill>
                <a:cs typeface="Calibri"/>
              </a:rPr>
              <a:t>Meetings transcriberen &amp; samenvatten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1600" dirty="0">
                <a:solidFill>
                  <a:srgbClr val="4A4A4A"/>
                </a:solidFill>
                <a:latin typeface="Calibri"/>
                <a:cs typeface="Calibri"/>
              </a:rPr>
              <a:t>…</a:t>
            </a:r>
          </a:p>
          <a:p>
            <a:pPr algn="l"/>
            <a:endParaRPr lang="nl-BE" sz="1600" dirty="0">
              <a:solidFill>
                <a:srgbClr val="4A4A4A"/>
              </a:solidFill>
              <a:latin typeface="Calibri"/>
              <a:cs typeface="Calibri"/>
            </a:endParaRPr>
          </a:p>
          <a:p>
            <a:pPr algn="l"/>
            <a:r>
              <a:rPr lang="nl-BE" sz="1600" dirty="0">
                <a:solidFill>
                  <a:srgbClr val="4A4A4A"/>
                </a:solidFill>
                <a:latin typeface="Calibri"/>
                <a:cs typeface="Calibri"/>
              </a:rPr>
              <a:t>Zelforganisatie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BE" sz="1600" dirty="0">
                <a:solidFill>
                  <a:srgbClr val="4A4A4A"/>
                </a:solidFill>
                <a:latin typeface="Calibri"/>
                <a:cs typeface="Calibri"/>
              </a:rPr>
              <a:t>Samen een plan opstellen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BE" sz="1600" dirty="0">
                <a:solidFill>
                  <a:srgbClr val="4A4A4A"/>
                </a:solidFill>
                <a:latin typeface="Calibri"/>
                <a:cs typeface="Calibri"/>
              </a:rPr>
              <a:t>Ondersteuning (Outlook) agenda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BE" sz="1600" dirty="0">
                <a:solidFill>
                  <a:srgbClr val="4A4A4A"/>
                </a:solidFill>
                <a:latin typeface="Calibri"/>
                <a:cs typeface="Calibri"/>
              </a:rPr>
              <a:t>Op jouw maat tips aangeboden krijgen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BE" sz="1600" dirty="0">
                <a:solidFill>
                  <a:srgbClr val="4A4A4A"/>
                </a:solidFill>
                <a:latin typeface="Calibri"/>
                <a:cs typeface="Calibri"/>
              </a:rPr>
              <a:t>…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nl-BE" sz="1600" dirty="0">
              <a:solidFill>
                <a:srgbClr val="4A4A4A"/>
              </a:solidFill>
              <a:latin typeface="Calibri"/>
              <a:cs typeface="Calibri"/>
            </a:endParaRPr>
          </a:p>
          <a:p>
            <a:pPr algn="l"/>
            <a:r>
              <a:rPr lang="nl-BE" sz="1600" dirty="0">
                <a:solidFill>
                  <a:srgbClr val="4A4A4A"/>
                </a:solidFill>
                <a:latin typeface="Calibri"/>
                <a:cs typeface="Calibri"/>
              </a:rPr>
              <a:t>Tot zelf volledig op maat gemaakte tools – toegespitst op jouw specifieke noden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0EEFE08C-54FF-0C7D-4C35-04C1B8D6AA39}"/>
              </a:ext>
            </a:extLst>
          </p:cNvPr>
          <p:cNvSpPr txBox="1"/>
          <p:nvPr/>
        </p:nvSpPr>
        <p:spPr>
          <a:xfrm>
            <a:off x="8407400" y="4749800"/>
            <a:ext cx="457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BE" sz="1400">
                <a:solidFill>
                  <a:srgbClr val="AAAAAA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77C15C83-6FA1-2F7F-3346-37A45BDA64AC}"/>
              </a:ext>
            </a:extLst>
          </p:cNvPr>
          <p:cNvSpPr txBox="1"/>
          <p:nvPr/>
        </p:nvSpPr>
        <p:spPr>
          <a:xfrm>
            <a:off x="5389643" y="3391911"/>
            <a:ext cx="3687855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BE" sz="2800" b="1" dirty="0">
                <a:solidFill>
                  <a:srgbClr val="1A1A1A"/>
                </a:solidFill>
                <a:latin typeface="Trebuchet MS"/>
              </a:rPr>
              <a:t>..the sky is the limit</a:t>
            </a:r>
          </a:p>
        </p:txBody>
      </p:sp>
    </p:spTree>
    <p:extLst>
      <p:ext uri="{BB962C8B-B14F-4D97-AF65-F5344CB8AC3E}">
        <p14:creationId xmlns:p14="http://schemas.microsoft.com/office/powerpoint/2010/main" val="2572914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0EC0A-F7B9-98E7-5368-A4B506782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>
            <a:extLst>
              <a:ext uri="{FF2B5EF4-FFF2-40B4-BE49-F238E27FC236}">
                <a16:creationId xmlns:a16="http://schemas.microsoft.com/office/drawing/2014/main" id="{95AD3011-F4C5-3F4C-4852-B95357D5653D}"/>
              </a:ext>
            </a:extLst>
          </p:cNvPr>
          <p:cNvSpPr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5B8D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BE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4DB21216-F948-A7D1-65F4-E180C81D9B9A}"/>
              </a:ext>
            </a:extLst>
          </p:cNvPr>
          <p:cNvSpPr txBox="1"/>
          <p:nvPr/>
        </p:nvSpPr>
        <p:spPr>
          <a:xfrm>
            <a:off x="635000" y="279400"/>
            <a:ext cx="77724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BE" sz="2800" b="1" dirty="0">
                <a:solidFill>
                  <a:srgbClr val="1A1A1A"/>
                </a:solidFill>
                <a:latin typeface="Trebuchet MS"/>
              </a:rPr>
              <a:t>Voorbeelden, ideeën..</a:t>
            </a: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D6530194-C24D-9643-3C12-7C7FCFC9A852}"/>
              </a:ext>
            </a:extLst>
          </p:cNvPr>
          <p:cNvSpPr txBox="1"/>
          <p:nvPr/>
        </p:nvSpPr>
        <p:spPr>
          <a:xfrm>
            <a:off x="601749" y="1209156"/>
            <a:ext cx="7874000" cy="353943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BE" sz="1600" dirty="0">
                <a:solidFill>
                  <a:srgbClr val="4A4A4A"/>
                </a:solidFill>
                <a:latin typeface="Calibri"/>
                <a:cs typeface="Calibri"/>
              </a:rPr>
              <a:t>Specifieke optimalisaties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BE" sz="1600" dirty="0">
                <a:solidFill>
                  <a:srgbClr val="4A4A4A"/>
                </a:solidFill>
                <a:latin typeface="Calibri"/>
                <a:cs typeface="Calibri"/>
              </a:rPr>
              <a:t>Excel-analyses automatiseren — bv. maandrapport in 10 min i.p.v. 2 uur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BE" sz="1600" dirty="0">
                <a:solidFill>
                  <a:srgbClr val="4A4A4A"/>
                </a:solidFill>
                <a:latin typeface="Calibri"/>
                <a:cs typeface="Calibri"/>
              </a:rPr>
              <a:t>Presentaties genereren — van ruwe input naar slide deck in een uur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BE" sz="1600" dirty="0">
                <a:solidFill>
                  <a:srgbClr val="4A4A4A"/>
                </a:solidFill>
                <a:latin typeface="Calibri"/>
                <a:cs typeface="Calibri"/>
              </a:rPr>
              <a:t>E-mails screenen en beantwoorden — bv. sollicitaties automatisch verwerken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1600" dirty="0">
                <a:solidFill>
                  <a:srgbClr val="4A4A4A"/>
                </a:solidFill>
                <a:cs typeface="Calibri"/>
              </a:rPr>
              <a:t>Meetings transcriberen &amp; samenvatten — inclusief actiepunten en opvolging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1600" dirty="0">
                <a:solidFill>
                  <a:srgbClr val="4A4A4A"/>
                </a:solidFill>
                <a:latin typeface="Calibri"/>
                <a:cs typeface="Calibri"/>
              </a:rPr>
              <a:t>…</a:t>
            </a:r>
          </a:p>
          <a:p>
            <a:pPr algn="l"/>
            <a:endParaRPr lang="nl-BE" sz="1600" dirty="0">
              <a:solidFill>
                <a:srgbClr val="4A4A4A"/>
              </a:solidFill>
              <a:latin typeface="Calibri"/>
              <a:cs typeface="Calibri"/>
            </a:endParaRPr>
          </a:p>
          <a:p>
            <a:pPr algn="l"/>
            <a:r>
              <a:rPr lang="nl-BE" sz="1600" dirty="0">
                <a:solidFill>
                  <a:srgbClr val="4A4A4A"/>
                </a:solidFill>
                <a:latin typeface="Calibri"/>
                <a:cs typeface="Calibri"/>
              </a:rPr>
              <a:t>Zelforganisatie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BE" sz="1600" dirty="0">
                <a:solidFill>
                  <a:srgbClr val="4A4A4A"/>
                </a:solidFill>
                <a:latin typeface="Calibri"/>
                <a:cs typeface="Calibri"/>
              </a:rPr>
              <a:t>Actieplan opstellen — prioriteiten op basis van impact en haalbaarheid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BE" sz="1600" dirty="0">
                <a:solidFill>
                  <a:srgbClr val="4A4A4A"/>
                </a:solidFill>
                <a:latin typeface="Calibri"/>
                <a:cs typeface="Calibri"/>
              </a:rPr>
              <a:t>Agenda bewaken — dubbele boekingen detecteren, herinneringen instellen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BE" sz="1600" dirty="0">
                <a:solidFill>
                  <a:srgbClr val="4A4A4A"/>
                </a:solidFill>
                <a:latin typeface="Calibri"/>
                <a:cs typeface="Calibri"/>
              </a:rPr>
              <a:t>Persoonlijke AI-assistent — afgestemd op jouw werkstijl en tools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BE" sz="1600" dirty="0">
                <a:solidFill>
                  <a:srgbClr val="4A4A4A"/>
                </a:solidFill>
                <a:latin typeface="Calibri"/>
                <a:cs typeface="Calibri"/>
              </a:rPr>
              <a:t>…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nl-BE" sz="1600" dirty="0">
              <a:solidFill>
                <a:srgbClr val="4A4A4A"/>
              </a:solidFill>
              <a:latin typeface="Calibri"/>
              <a:cs typeface="Calibri"/>
            </a:endParaRPr>
          </a:p>
          <a:p>
            <a:pPr algn="l"/>
            <a:r>
              <a:rPr lang="nl-BE" sz="1600" dirty="0">
                <a:solidFill>
                  <a:srgbClr val="4A4A4A"/>
                </a:solidFill>
                <a:latin typeface="Calibri"/>
                <a:cs typeface="Calibri"/>
              </a:rPr>
              <a:t>Tot zelf volledig op maat gemaakte tools – toegespitst op jouw specifieke noden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0EEFE08C-54FF-0C7D-4C35-04C1B8D6AA39}"/>
              </a:ext>
            </a:extLst>
          </p:cNvPr>
          <p:cNvSpPr txBox="1"/>
          <p:nvPr/>
        </p:nvSpPr>
        <p:spPr>
          <a:xfrm>
            <a:off x="8407400" y="4749800"/>
            <a:ext cx="457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BE" sz="1400">
                <a:solidFill>
                  <a:srgbClr val="AAAAAA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77C15C83-6FA1-2F7F-3346-37A45BDA64AC}"/>
              </a:ext>
            </a:extLst>
          </p:cNvPr>
          <p:cNvSpPr txBox="1"/>
          <p:nvPr/>
        </p:nvSpPr>
        <p:spPr>
          <a:xfrm>
            <a:off x="4402091" y="282951"/>
            <a:ext cx="3687855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BE" sz="2800" b="1" dirty="0">
                <a:solidFill>
                  <a:srgbClr val="1A1A1A"/>
                </a:solidFill>
                <a:latin typeface="Trebuchet MS"/>
              </a:rPr>
              <a:t>..the sky is the limit</a:t>
            </a:r>
          </a:p>
        </p:txBody>
      </p:sp>
    </p:spTree>
    <p:extLst>
      <p:ext uri="{BB962C8B-B14F-4D97-AF65-F5344CB8AC3E}">
        <p14:creationId xmlns:p14="http://schemas.microsoft.com/office/powerpoint/2010/main" val="1395668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40"/>
          <p:cNvSpPr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41" name="T41"/>
          <p:cNvSpPr/>
          <p:nvPr/>
        </p:nvSpPr>
        <p:spPr>
          <a:xfrm>
            <a:off x="635000" y="228600"/>
            <a:ext cx="7772400" cy="508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ctr"/>
          <a:lstStyle/>
          <a:p>
            <a:pPr algn="l"/>
            <a:r>
              <a:rPr lang="nl-NL" sz="2800" b="1" dirty="0">
                <a:solidFill>
                  <a:srgbClr val="1A1A1A"/>
                </a:solidFill>
                <a:latin typeface="Trebuchet MS"/>
              </a:rPr>
              <a:t>Proces: ondersteuning → zelfstandigheid</a:t>
            </a:r>
          </a:p>
        </p:txBody>
      </p:sp>
      <p:sp>
        <p:nvSpPr>
          <p:cNvPr id="42" name="R42"/>
          <p:cNvSpPr/>
          <p:nvPr/>
        </p:nvSpPr>
        <p:spPr>
          <a:xfrm>
            <a:off x="734060" y="3368040"/>
            <a:ext cx="2413000" cy="1079500"/>
          </a:xfrm>
          <a:prstGeom prst="roundRect">
            <a:avLst>
              <a:gd name="adj" fmla="val 6000"/>
            </a:avLst>
          </a:prstGeom>
          <a:solidFill>
            <a:srgbClr val="2C5F7C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43" name="T43"/>
          <p:cNvSpPr/>
          <p:nvPr/>
        </p:nvSpPr>
        <p:spPr>
          <a:xfrm>
            <a:off x="734060" y="3368040"/>
            <a:ext cx="2413000" cy="10795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ctr"/>
          <a:lstStyle/>
          <a:p>
            <a:pPr algn="ctr"/>
            <a:r>
              <a:rPr lang="nl-NL" sz="2000" b="1" dirty="0">
                <a:solidFill>
                  <a:srgbClr val="FFFFFF"/>
                </a:solidFill>
                <a:latin typeface="Trebuchet MS"/>
              </a:rPr>
              <a:t>Wim stuurt</a:t>
            </a:r>
          </a:p>
          <a:p>
            <a:pPr algn="ctr">
              <a:spcBef>
                <a:spcPts val="150"/>
              </a:spcBef>
            </a:pPr>
            <a:r>
              <a:rPr lang="nl-NL" sz="1300" dirty="0">
                <a:solidFill>
                  <a:srgbClr val="D6E6F2"/>
                </a:solidFill>
                <a:latin typeface="Calibri"/>
              </a:rPr>
              <a:t>Analyseren, opzetten, bouwen</a:t>
            </a:r>
          </a:p>
        </p:txBody>
      </p:sp>
      <p:sp>
        <p:nvSpPr>
          <p:cNvPr id="44" name="A44"/>
          <p:cNvSpPr/>
          <p:nvPr/>
        </p:nvSpPr>
        <p:spPr>
          <a:xfrm rot="-2700000">
            <a:off x="2663190" y="2862581"/>
            <a:ext cx="6350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8DB8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45" name="R45"/>
          <p:cNvSpPr/>
          <p:nvPr/>
        </p:nvSpPr>
        <p:spPr>
          <a:xfrm>
            <a:off x="3274060" y="2288540"/>
            <a:ext cx="2413000" cy="1079500"/>
          </a:xfrm>
          <a:prstGeom prst="roundRect">
            <a:avLst>
              <a:gd name="adj" fmla="val 6000"/>
            </a:avLst>
          </a:prstGeom>
          <a:solidFill>
            <a:srgbClr val="5B8DB8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46" name="T46"/>
          <p:cNvSpPr/>
          <p:nvPr/>
        </p:nvSpPr>
        <p:spPr>
          <a:xfrm>
            <a:off x="3274060" y="2288540"/>
            <a:ext cx="2413000" cy="10795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ctr"/>
          <a:lstStyle/>
          <a:p>
            <a:pPr algn="ctr"/>
            <a:r>
              <a:rPr lang="nl-NL" sz="2000" b="1" dirty="0">
                <a:solidFill>
                  <a:srgbClr val="FFFFFF"/>
                </a:solidFill>
                <a:latin typeface="Trebuchet MS"/>
              </a:rPr>
              <a:t>Wim begeleidt</a:t>
            </a:r>
          </a:p>
          <a:p>
            <a:pPr algn="ctr">
              <a:spcBef>
                <a:spcPts val="150"/>
              </a:spcBef>
            </a:pPr>
            <a:r>
              <a:rPr lang="nl-NL" sz="1300" dirty="0">
                <a:solidFill>
                  <a:srgbClr val="D6E6F2"/>
                </a:solidFill>
                <a:latin typeface="Calibri"/>
              </a:rPr>
              <a:t>Overdragen, uitleggen, coachen</a:t>
            </a:r>
          </a:p>
        </p:txBody>
      </p:sp>
      <p:sp>
        <p:nvSpPr>
          <p:cNvPr id="47" name="A47"/>
          <p:cNvSpPr/>
          <p:nvPr/>
        </p:nvSpPr>
        <p:spPr>
          <a:xfrm rot="-2700000">
            <a:off x="5237480" y="1748790"/>
            <a:ext cx="6350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8DB8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48" name="R48"/>
          <p:cNvSpPr/>
          <p:nvPr/>
        </p:nvSpPr>
        <p:spPr>
          <a:xfrm>
            <a:off x="5814060" y="1234440"/>
            <a:ext cx="2413000" cy="1079500"/>
          </a:xfrm>
          <a:prstGeom prst="roundRect">
            <a:avLst>
              <a:gd name="adj" fmla="val 6000"/>
            </a:avLst>
          </a:prstGeom>
          <a:solidFill>
            <a:srgbClr val="D6E6F2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49" name="T49"/>
          <p:cNvSpPr/>
          <p:nvPr/>
        </p:nvSpPr>
        <p:spPr>
          <a:xfrm>
            <a:off x="5814060" y="1234440"/>
            <a:ext cx="2413000" cy="10795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ctr"/>
          <a:lstStyle/>
          <a:p>
            <a:pPr algn="ctr"/>
            <a:r>
              <a:rPr lang="nl-NL" sz="2000" b="1" dirty="0">
                <a:solidFill>
                  <a:srgbClr val="2C5F7C"/>
                </a:solidFill>
                <a:latin typeface="Trebuchet MS"/>
              </a:rPr>
              <a:t>Jij kan verder</a:t>
            </a:r>
          </a:p>
          <a:p>
            <a:pPr algn="ctr">
              <a:spcBef>
                <a:spcPts val="150"/>
              </a:spcBef>
            </a:pPr>
            <a:r>
              <a:rPr lang="nl-NL" sz="1300" dirty="0">
                <a:solidFill>
                  <a:srgbClr val="5B8DB8"/>
                </a:solidFill>
                <a:latin typeface="Calibri"/>
              </a:rPr>
              <a:t>Wim verdwijnt naar de achtergrond</a:t>
            </a:r>
          </a:p>
        </p:txBody>
      </p:sp>
      <p:sp>
        <p:nvSpPr>
          <p:cNvPr id="50" name="T50"/>
          <p:cNvSpPr/>
          <p:nvPr/>
        </p:nvSpPr>
        <p:spPr>
          <a:xfrm>
            <a:off x="4686300" y="4713515"/>
            <a:ext cx="3897811" cy="3302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ctr"/>
          <a:lstStyle/>
          <a:p>
            <a:pPr algn="r"/>
            <a:r>
              <a:rPr lang="nl-NL" sz="1200" i="1" dirty="0">
                <a:solidFill>
                  <a:srgbClr val="5B8DB8"/>
                </a:solidFill>
                <a:latin typeface="Calibri"/>
              </a:rPr>
              <a:t>Mijn rol vervaagt naarmate jij sterker wordt.</a:t>
            </a:r>
          </a:p>
        </p:txBody>
      </p:sp>
      <p:sp>
        <p:nvSpPr>
          <p:cNvPr id="51" name="T51"/>
          <p:cNvSpPr/>
          <p:nvPr/>
        </p:nvSpPr>
        <p:spPr>
          <a:xfrm>
            <a:off x="8407400" y="4749800"/>
            <a:ext cx="457200" cy="2794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ctr"/>
          <a:lstStyle/>
          <a:p>
            <a:pPr algn="r"/>
            <a:r>
              <a:rPr lang="nl-NL" sz="1400" dirty="0">
                <a:solidFill>
                  <a:srgbClr val="AAAAAA"/>
                </a:solidFill>
                <a:latin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404714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D988EDEB-7A33-3B87-3D30-CED39B7FF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656" y="0"/>
            <a:ext cx="742068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883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>
            <a:extLst>
              <a:ext uri="{FF2B5EF4-FFF2-40B4-BE49-F238E27FC236}">
                <a16:creationId xmlns:a16="http://schemas.microsoft.com/office/drawing/2014/main" id="{97F35AC0-2045-1C2F-CEAF-B3E9DEE6F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0564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>
            <a:extLst>
              <a:ext uri="{FF2B5EF4-FFF2-40B4-BE49-F238E27FC236}">
                <a16:creationId xmlns:a16="http://schemas.microsoft.com/office/drawing/2014/main" id="{9AF621EB-6191-D45C-6BE9-82CC293A8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267" y="0"/>
            <a:ext cx="603146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323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>
            <a:extLst>
              <a:ext uri="{FF2B5EF4-FFF2-40B4-BE49-F238E27FC236}">
                <a16:creationId xmlns:a16="http://schemas.microsoft.com/office/drawing/2014/main" id="{FCD84D8B-8587-674D-B8D6-7FBCEDB6A592}"/>
              </a:ext>
            </a:extLst>
          </p:cNvPr>
          <p:cNvSpPr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5B8D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BE"/>
          </a:p>
        </p:txBody>
      </p:sp>
      <p:sp>
        <p:nvSpPr>
          <p:cNvPr id="8" name="Afgeronde rechthoek 7">
            <a:extLst>
              <a:ext uri="{FF2B5EF4-FFF2-40B4-BE49-F238E27FC236}">
                <a16:creationId xmlns:a16="http://schemas.microsoft.com/office/drawing/2014/main" id="{F4185D78-5039-1647-A8E5-A9906E2AF7D0}"/>
              </a:ext>
            </a:extLst>
          </p:cNvPr>
          <p:cNvSpPr/>
          <p:nvPr/>
        </p:nvSpPr>
        <p:spPr>
          <a:xfrm>
            <a:off x="4762500" y="2984500"/>
            <a:ext cx="3746500" cy="1905000"/>
          </a:xfrm>
          <a:prstGeom prst="roundRect">
            <a:avLst/>
          </a:prstGeom>
          <a:solidFill>
            <a:srgbClr val="F0F5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BE"/>
          </a:p>
        </p:txBody>
      </p:sp>
      <p:sp>
        <p:nvSpPr>
          <p:cNvPr id="7" name="Afgeronde rechthoek 6">
            <a:extLst>
              <a:ext uri="{FF2B5EF4-FFF2-40B4-BE49-F238E27FC236}">
                <a16:creationId xmlns:a16="http://schemas.microsoft.com/office/drawing/2014/main" id="{5364B740-43C4-B244-AD65-B0CFD039AD03}"/>
              </a:ext>
            </a:extLst>
          </p:cNvPr>
          <p:cNvSpPr/>
          <p:nvPr/>
        </p:nvSpPr>
        <p:spPr>
          <a:xfrm>
            <a:off x="635000" y="2984500"/>
            <a:ext cx="3746500" cy="1905000"/>
          </a:xfrm>
          <a:prstGeom prst="roundRect">
            <a:avLst/>
          </a:prstGeom>
          <a:solidFill>
            <a:srgbClr val="F0F5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BE"/>
          </a:p>
        </p:txBody>
      </p:sp>
      <p:sp>
        <p:nvSpPr>
          <p:cNvPr id="6" name="Afgeronde rechthoek 5">
            <a:extLst>
              <a:ext uri="{FF2B5EF4-FFF2-40B4-BE49-F238E27FC236}">
                <a16:creationId xmlns:a16="http://schemas.microsoft.com/office/drawing/2014/main" id="{DED16E70-6EB8-E140-927D-CE6669FE73BF}"/>
              </a:ext>
            </a:extLst>
          </p:cNvPr>
          <p:cNvSpPr/>
          <p:nvPr/>
        </p:nvSpPr>
        <p:spPr>
          <a:xfrm>
            <a:off x="4762500" y="952500"/>
            <a:ext cx="3746500" cy="1905000"/>
          </a:xfrm>
          <a:prstGeom prst="roundRect">
            <a:avLst/>
          </a:prstGeom>
          <a:solidFill>
            <a:srgbClr val="F0F5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BE"/>
          </a:p>
        </p:txBody>
      </p:sp>
      <p:sp>
        <p:nvSpPr>
          <p:cNvPr id="5" name="Afgeronde rechthoek 4">
            <a:extLst>
              <a:ext uri="{FF2B5EF4-FFF2-40B4-BE49-F238E27FC236}">
                <a16:creationId xmlns:a16="http://schemas.microsoft.com/office/drawing/2014/main" id="{6FC0B511-458D-9243-822A-4EF1FC5C32D3}"/>
              </a:ext>
            </a:extLst>
          </p:cNvPr>
          <p:cNvSpPr/>
          <p:nvPr/>
        </p:nvSpPr>
        <p:spPr>
          <a:xfrm>
            <a:off x="635000" y="952500"/>
            <a:ext cx="3746500" cy="1905000"/>
          </a:xfrm>
          <a:prstGeom prst="roundRect">
            <a:avLst/>
          </a:prstGeom>
          <a:solidFill>
            <a:srgbClr val="F0F5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BE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E07EC2E5-BBA7-7A4A-B0F7-FB6DAEFBA18B}"/>
              </a:ext>
            </a:extLst>
          </p:cNvPr>
          <p:cNvSpPr txBox="1"/>
          <p:nvPr/>
        </p:nvSpPr>
        <p:spPr>
          <a:xfrm>
            <a:off x="635000" y="279400"/>
            <a:ext cx="77724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nl-BE" sz="2800" b="1" dirty="0">
                <a:solidFill>
                  <a:srgbClr val="1A1A1A"/>
                </a:solidFill>
                <a:latin typeface="Trebuchet MS"/>
              </a:rPr>
              <a:t>Extra tips bij het gebruik van Claude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D8275E1A-3127-A64F-B1C0-BC821F8DDF48}"/>
              </a:ext>
            </a:extLst>
          </p:cNvPr>
          <p:cNvSpPr txBox="1"/>
          <p:nvPr/>
        </p:nvSpPr>
        <p:spPr>
          <a:xfrm>
            <a:off x="8407400" y="4864100"/>
            <a:ext cx="457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nl-BE" sz="1400">
                <a:solidFill>
                  <a:srgbClr val="AAAAAA"/>
                </a:solidFill>
                <a:latin typeface="Calibri"/>
                <a:cs typeface="Calibri"/>
              </a:rPr>
              <a:t>8</a:t>
            </a:r>
          </a:p>
        </p:txBody>
      </p:sp>
      <p:pic>
        <p:nvPicPr>
          <p:cNvPr id="10" name="Graphic 10" descr="Verify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7400" y="1054100"/>
            <a:ext cx="457200" cy="457200"/>
          </a:xfrm>
          <a:prstGeom prst="rect">
            <a:avLst/>
          </a:prstGeom>
        </p:spPr>
      </p:pic>
      <p:pic>
        <p:nvPicPr>
          <p:cNvPr id="11" name="Graphic 11" descr="Focus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14900" y="1054100"/>
            <a:ext cx="457200" cy="457200"/>
          </a:xfrm>
          <a:prstGeom prst="rect">
            <a:avLst/>
          </a:prstGeom>
        </p:spPr>
      </p:pic>
      <p:pic>
        <p:nvPicPr>
          <p:cNvPr id="12" name="Graphic 12" descr="Security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400" y="3086100"/>
            <a:ext cx="457200" cy="457200"/>
          </a:xfrm>
          <a:prstGeom prst="rect">
            <a:avLst/>
          </a:prstGeom>
        </p:spPr>
      </p:pic>
      <p:pic>
        <p:nvPicPr>
          <p:cNvPr id="13" name="Graphic 13" descr="Sav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14900" y="3086100"/>
            <a:ext cx="457200" cy="457200"/>
          </a:xfrm>
          <a:prstGeom prst="rect">
            <a:avLst/>
          </a:prstGeom>
        </p:spPr>
      </p:pic>
      <p:sp>
        <p:nvSpPr>
          <p:cNvPr id="3" name="Tekstvak 2">
            <a:extLst>
              <a:ext uri="{FF2B5EF4-FFF2-40B4-BE49-F238E27FC236}">
                <a16:creationId xmlns:a16="http://schemas.microsoft.com/office/drawing/2014/main" id="{E9272F60-7C8D-F344-972B-DD85BA3075B9}"/>
              </a:ext>
            </a:extLst>
          </p:cNvPr>
          <p:cNvSpPr txBox="1"/>
          <p:nvPr/>
        </p:nvSpPr>
        <p:spPr>
          <a:xfrm>
            <a:off x="787400" y="1587500"/>
            <a:ext cx="3441700" cy="1168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nl-BE" sz="1500" b="1" dirty="0">
                <a:solidFill>
                  <a:srgbClr val="5B8DB8"/>
                </a:solidFill>
                <a:latin typeface="Trebuchet MS"/>
              </a:rPr>
              <a:t>Vertrouw maar controleer</a:t>
            </a:r>
          </a:p>
          <a:p>
            <a:pPr algn="l">
              <a:spcBef>
                <a:spcPts val="200"/>
              </a:spcBef>
              <a:buNone/>
            </a:pPr>
            <a:r>
              <a:rPr lang="nl-BE" sz="1200" dirty="0">
                <a:solidFill>
                  <a:srgbClr val="4A4A4A"/>
                </a:solidFill>
                <a:latin typeface="Calibri"/>
              </a:rPr>
              <a:t>Claude kan fouten maken, zeker bij cijfers of feiten. Gebruik het als een slimme assistent, niet als een orakel.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45F11CBA-1418-B24E-93FC-7195F60C653E}"/>
              </a:ext>
            </a:extLst>
          </p:cNvPr>
          <p:cNvSpPr txBox="1"/>
          <p:nvPr/>
        </p:nvSpPr>
        <p:spPr>
          <a:xfrm>
            <a:off x="4914900" y="1587500"/>
            <a:ext cx="3441700" cy="1168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nl-BE" sz="1500" b="1" dirty="0">
                <a:solidFill>
                  <a:srgbClr val="5B8DB8"/>
                </a:solidFill>
                <a:latin typeface="Trebuchet MS"/>
              </a:rPr>
              <a:t>Eén taak per keer</a:t>
            </a:r>
          </a:p>
          <a:p>
            <a:pPr algn="l">
              <a:spcBef>
                <a:spcPts val="200"/>
              </a:spcBef>
              <a:buNone/>
            </a:pPr>
            <a:r>
              <a:rPr lang="nl-BE" sz="1200" dirty="0">
                <a:solidFill>
                  <a:srgbClr val="4A4A4A"/>
                </a:solidFill>
                <a:latin typeface="Calibri"/>
              </a:rPr>
              <a:t>“Schrijf een e-mail én maak een samenvatting én vertaal” in één vraag geeft zwakkere resultaten dan drie aparte vragen.</a:t>
            </a:r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21BA6944-955A-0E46-8061-A5BD7BBB776B}"/>
              </a:ext>
            </a:extLst>
          </p:cNvPr>
          <p:cNvSpPr txBox="1"/>
          <p:nvPr/>
        </p:nvSpPr>
        <p:spPr>
          <a:xfrm>
            <a:off x="787400" y="3619500"/>
            <a:ext cx="3441700" cy="1168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nl-BE" sz="1500" b="1" dirty="0">
                <a:solidFill>
                  <a:srgbClr val="5B8DB8"/>
                </a:solidFill>
                <a:latin typeface="Trebuchet MS"/>
              </a:rPr>
              <a:t>Gevoelige info? Wees voorzichtig</a:t>
            </a:r>
          </a:p>
          <a:p>
            <a:pPr algn="l">
              <a:spcBef>
                <a:spcPts val="200"/>
              </a:spcBef>
              <a:buNone/>
            </a:pPr>
            <a:r>
              <a:rPr lang="nl-BE" sz="1200" dirty="0">
                <a:solidFill>
                  <a:srgbClr val="4A4A4A"/>
                </a:solidFill>
                <a:latin typeface="Calibri"/>
              </a:rPr>
              <a:t>Klantdata of vertrouwelijke documenten? Check of je bedrijf een Team- of Enterprise-plan heeft — die bieden extra bescherming.</a:t>
            </a:r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0E376F43-66DC-1C4B-BD70-9BC33DD424FD}"/>
              </a:ext>
            </a:extLst>
          </p:cNvPr>
          <p:cNvSpPr txBox="1"/>
          <p:nvPr/>
        </p:nvSpPr>
        <p:spPr>
          <a:xfrm>
            <a:off x="4914900" y="3619500"/>
            <a:ext cx="3441700" cy="1168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nl-BE" sz="1500" b="1" dirty="0">
                <a:solidFill>
                  <a:srgbClr val="5B8DB8"/>
                </a:solidFill>
                <a:latin typeface="Trebuchet MS"/>
              </a:rPr>
              <a:t>Itereer én bewaar wat werkt</a:t>
            </a:r>
          </a:p>
          <a:p>
            <a:pPr algn="l">
              <a:spcBef>
                <a:spcPts val="200"/>
              </a:spcBef>
              <a:buNone/>
            </a:pPr>
            <a:r>
              <a:rPr lang="nl-BE" sz="1200" dirty="0">
                <a:solidFill>
                  <a:srgbClr val="4A4A4A"/>
                </a:solidFill>
                <a:latin typeface="Calibri"/>
              </a:rPr>
              <a:t>Niet tevreden? Zeg wat er beter kan — Claude leert binnen het gesprek. Werkt een prompt goed? Bewaar die als template.</a:t>
            </a:r>
          </a:p>
        </p:txBody>
      </p:sp>
    </p:spTree>
    <p:extLst>
      <p:ext uri="{BB962C8B-B14F-4D97-AF65-F5344CB8AC3E}">
        <p14:creationId xmlns:p14="http://schemas.microsoft.com/office/powerpoint/2010/main" val="31815062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A58DCAFC-DCFF-AD14-C19B-081FBBD05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347" y="0"/>
            <a:ext cx="564530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9054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>
            <a:extLst>
              <a:ext uri="{FF2B5EF4-FFF2-40B4-BE49-F238E27FC236}">
                <a16:creationId xmlns:a16="http://schemas.microsoft.com/office/drawing/2014/main" id="{1CBB5038-497D-8A4B-975E-8EF5F1C666AB}"/>
              </a:ext>
            </a:extLst>
          </p:cNvPr>
          <p:cNvSpPr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5B8D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BE"/>
          </a:p>
        </p:txBody>
      </p:sp>
      <p:sp>
        <p:nvSpPr>
          <p:cNvPr id="8" name="Afgeronde rechthoek 7">
            <a:extLst>
              <a:ext uri="{FF2B5EF4-FFF2-40B4-BE49-F238E27FC236}">
                <a16:creationId xmlns:a16="http://schemas.microsoft.com/office/drawing/2014/main" id="{AE7904E5-586D-4049-9B7F-D81F58E6B606}"/>
              </a:ext>
            </a:extLst>
          </p:cNvPr>
          <p:cNvSpPr/>
          <p:nvPr/>
        </p:nvSpPr>
        <p:spPr>
          <a:xfrm>
            <a:off x="4762500" y="2984500"/>
            <a:ext cx="3746500" cy="1905000"/>
          </a:xfrm>
          <a:prstGeom prst="roundRect">
            <a:avLst/>
          </a:prstGeom>
          <a:solidFill>
            <a:srgbClr val="F0F5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BE"/>
          </a:p>
        </p:txBody>
      </p:sp>
      <p:sp>
        <p:nvSpPr>
          <p:cNvPr id="7" name="Afgeronde rechthoek 6">
            <a:extLst>
              <a:ext uri="{FF2B5EF4-FFF2-40B4-BE49-F238E27FC236}">
                <a16:creationId xmlns:a16="http://schemas.microsoft.com/office/drawing/2014/main" id="{9C39047B-47D3-6548-A0E3-2C97388E6EC5}"/>
              </a:ext>
            </a:extLst>
          </p:cNvPr>
          <p:cNvSpPr/>
          <p:nvPr/>
        </p:nvSpPr>
        <p:spPr>
          <a:xfrm>
            <a:off x="635000" y="2984500"/>
            <a:ext cx="3746500" cy="1905000"/>
          </a:xfrm>
          <a:prstGeom prst="roundRect">
            <a:avLst/>
          </a:prstGeom>
          <a:solidFill>
            <a:srgbClr val="F0F5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BE"/>
          </a:p>
        </p:txBody>
      </p:sp>
      <p:sp>
        <p:nvSpPr>
          <p:cNvPr id="6" name="Afgeronde rechthoek 5">
            <a:extLst>
              <a:ext uri="{FF2B5EF4-FFF2-40B4-BE49-F238E27FC236}">
                <a16:creationId xmlns:a16="http://schemas.microsoft.com/office/drawing/2014/main" id="{293FEC2A-9C80-8845-8874-5566DA5B2456}"/>
              </a:ext>
            </a:extLst>
          </p:cNvPr>
          <p:cNvSpPr/>
          <p:nvPr/>
        </p:nvSpPr>
        <p:spPr>
          <a:xfrm>
            <a:off x="4762500" y="952500"/>
            <a:ext cx="3746500" cy="1905000"/>
          </a:xfrm>
          <a:prstGeom prst="roundRect">
            <a:avLst/>
          </a:prstGeom>
          <a:solidFill>
            <a:srgbClr val="F0F5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BE"/>
          </a:p>
        </p:txBody>
      </p:sp>
      <p:sp>
        <p:nvSpPr>
          <p:cNvPr id="5" name="Afgeronde rechthoek 4">
            <a:extLst>
              <a:ext uri="{FF2B5EF4-FFF2-40B4-BE49-F238E27FC236}">
                <a16:creationId xmlns:a16="http://schemas.microsoft.com/office/drawing/2014/main" id="{79BA421C-0F5D-F544-9621-A0CF4FA7AA77}"/>
              </a:ext>
            </a:extLst>
          </p:cNvPr>
          <p:cNvSpPr/>
          <p:nvPr/>
        </p:nvSpPr>
        <p:spPr>
          <a:xfrm>
            <a:off x="635000" y="952500"/>
            <a:ext cx="3746500" cy="1905000"/>
          </a:xfrm>
          <a:prstGeom prst="roundRect">
            <a:avLst/>
          </a:prstGeom>
          <a:solidFill>
            <a:srgbClr val="F0F5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BE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A1A83F18-2FD0-3146-ACAA-6355CDDFB3F7}"/>
              </a:ext>
            </a:extLst>
          </p:cNvPr>
          <p:cNvSpPr txBox="1"/>
          <p:nvPr/>
        </p:nvSpPr>
        <p:spPr>
          <a:xfrm>
            <a:off x="635000" y="279400"/>
            <a:ext cx="77724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nl-BE" sz="2800" b="1">
                <a:solidFill>
                  <a:srgbClr val="1A1A1A"/>
                </a:solidFill>
                <a:latin typeface="Trebuchet MS"/>
              </a:rPr>
              <a:t>Hoe zet je projecten slim in?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76F61A6E-163D-8844-AE6D-5202556270A2}"/>
              </a:ext>
            </a:extLst>
          </p:cNvPr>
          <p:cNvSpPr txBox="1"/>
          <p:nvPr/>
        </p:nvSpPr>
        <p:spPr>
          <a:xfrm>
            <a:off x="787400" y="1587500"/>
            <a:ext cx="3441700" cy="1168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nl-BE" sz="1500" b="1" dirty="0">
                <a:solidFill>
                  <a:srgbClr val="5B8DB8"/>
                </a:solidFill>
                <a:latin typeface="Trebuchet MS"/>
              </a:rPr>
              <a:t>Vaste instructies zijn de sleutel</a:t>
            </a:r>
          </a:p>
          <a:p>
            <a:pPr algn="l">
              <a:spcBef>
                <a:spcPts val="200"/>
              </a:spcBef>
              <a:buNone/>
            </a:pPr>
            <a:r>
              <a:rPr lang="nl-BE" sz="1200" dirty="0">
                <a:solidFill>
                  <a:srgbClr val="4A4A4A"/>
                </a:solidFill>
                <a:latin typeface="Calibri"/>
              </a:rPr>
              <a:t>Schrijf per project hoe Claude zich moet gedragen. Elke collega werkt dan automatisch in dezelfde stijl — zonder telkens opnieuw uit te leggen.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FBB81392-7419-D146-A1BD-187791139D9A}"/>
              </a:ext>
            </a:extLst>
          </p:cNvPr>
          <p:cNvSpPr txBox="1"/>
          <p:nvPr/>
        </p:nvSpPr>
        <p:spPr>
          <a:xfrm>
            <a:off x="4914900" y="1587500"/>
            <a:ext cx="3441700" cy="1168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nl-BE" sz="1500" b="1" dirty="0">
                <a:solidFill>
                  <a:srgbClr val="5B8DB8"/>
                </a:solidFill>
                <a:latin typeface="Trebuchet MS"/>
              </a:rPr>
              <a:t>Deel kennis via documenten</a:t>
            </a:r>
          </a:p>
          <a:p>
            <a:pPr algn="l">
              <a:spcBef>
                <a:spcPts val="200"/>
              </a:spcBef>
              <a:buNone/>
            </a:pPr>
            <a:r>
              <a:rPr lang="nl-BE" sz="1200" dirty="0">
                <a:solidFill>
                  <a:srgbClr val="4A4A4A"/>
                </a:solidFill>
                <a:latin typeface="Calibri"/>
              </a:rPr>
              <a:t>Upload documenten als context in een project. Claude gebruikt ze automatisch — zonder dat je ze telkens opnieuw moet meesturen.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4027F194-E763-0947-AD7B-13A2F5F45E56}"/>
              </a:ext>
            </a:extLst>
          </p:cNvPr>
          <p:cNvSpPr txBox="1"/>
          <p:nvPr/>
        </p:nvSpPr>
        <p:spPr>
          <a:xfrm>
            <a:off x="787400" y="3619500"/>
            <a:ext cx="3441700" cy="1168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nl-BE" sz="1500" b="1" dirty="0">
                <a:solidFill>
                  <a:srgbClr val="5B8DB8"/>
                </a:solidFill>
                <a:latin typeface="Trebuchet MS"/>
              </a:rPr>
              <a:t>Artifacts blijven bewaard</a:t>
            </a:r>
          </a:p>
          <a:p>
            <a:pPr algn="l">
              <a:spcBef>
                <a:spcPts val="200"/>
              </a:spcBef>
              <a:buNone/>
            </a:pPr>
            <a:r>
              <a:rPr lang="nl-BE" sz="1200" dirty="0">
                <a:solidFill>
                  <a:srgbClr val="4A4A4A"/>
                </a:solidFill>
                <a:latin typeface="Calibri"/>
              </a:rPr>
              <a:t>Wat je aanmaakt in een project is herbruikbaar door het hele team. Denk aan templates, samenvattingen of standaardteksten.</a:t>
            </a: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C40E8E5-0BE6-4D48-80F3-29826C788F8E}"/>
              </a:ext>
            </a:extLst>
          </p:cNvPr>
          <p:cNvSpPr txBox="1"/>
          <p:nvPr/>
        </p:nvSpPr>
        <p:spPr>
          <a:xfrm>
            <a:off x="4914900" y="3619500"/>
            <a:ext cx="3441700" cy="1168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nl-BE" sz="1500" b="1" dirty="0">
                <a:solidFill>
                  <a:srgbClr val="5B8DB8"/>
                </a:solidFill>
                <a:latin typeface="Trebuchet MS"/>
              </a:rPr>
              <a:t>Start met 3–5 projecten</a:t>
            </a:r>
          </a:p>
          <a:p>
            <a:pPr algn="l">
              <a:spcBef>
                <a:spcPts val="200"/>
              </a:spcBef>
              <a:buNone/>
            </a:pPr>
            <a:r>
              <a:rPr lang="nl-BE" sz="1200" dirty="0">
                <a:solidFill>
                  <a:srgbClr val="4A4A4A"/>
                </a:solidFill>
                <a:latin typeface="Calibri"/>
              </a:rPr>
              <a:t>Denk in termen van “welke context wil ik niet telkens opnieuw uitleggen?” Dat is een project. Te veel projecten werkt verwarrend.</a:t>
            </a: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2C2A1C8C-9BC6-8F46-9450-55F1EA403DF7}"/>
              </a:ext>
            </a:extLst>
          </p:cNvPr>
          <p:cNvSpPr txBox="1"/>
          <p:nvPr/>
        </p:nvSpPr>
        <p:spPr>
          <a:xfrm>
            <a:off x="8407400" y="4864100"/>
            <a:ext cx="457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nl-BE" sz="1400">
                <a:solidFill>
                  <a:srgbClr val="AAAAAA"/>
                </a:solidFill>
                <a:latin typeface="Calibri"/>
                <a:cs typeface="Calibri"/>
              </a:rPr>
              <a:t>9</a:t>
            </a:r>
          </a:p>
        </p:txBody>
      </p:sp>
      <p:pic>
        <p:nvPicPr>
          <p:cNvPr id="14" name="Graphic 14" descr="Instructions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7400" y="1054100"/>
            <a:ext cx="457200" cy="457200"/>
          </a:xfrm>
          <a:prstGeom prst="rect">
            <a:avLst/>
          </a:prstGeom>
        </p:spPr>
      </p:pic>
      <p:pic>
        <p:nvPicPr>
          <p:cNvPr id="15" name="Graphic 15" descr="Document knowledg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14900" y="1054100"/>
            <a:ext cx="457200" cy="457200"/>
          </a:xfrm>
          <a:prstGeom prst="rect">
            <a:avLst/>
          </a:prstGeom>
        </p:spPr>
      </p:pic>
      <p:pic>
        <p:nvPicPr>
          <p:cNvPr id="16" name="Graphic 16" descr="Artifacts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400" y="3086100"/>
            <a:ext cx="457200" cy="457200"/>
          </a:xfrm>
          <a:prstGeom prst="rect">
            <a:avLst/>
          </a:prstGeom>
        </p:spPr>
      </p:pic>
      <p:pic>
        <p:nvPicPr>
          <p:cNvPr id="17" name="Graphic 17" descr="Projects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14900" y="308610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9925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4FE38-CF25-6AA4-E0B2-6A4C1BD1C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50">
            <a:extLst>
              <a:ext uri="{FF2B5EF4-FFF2-40B4-BE49-F238E27FC236}">
                <a16:creationId xmlns:a16="http://schemas.microsoft.com/office/drawing/2014/main" id="{7D2BB4BD-D54E-A363-1D1E-ADDDDA54F429}"/>
              </a:ext>
            </a:extLst>
          </p:cNvPr>
          <p:cNvSpPr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51" name="T51">
            <a:extLst>
              <a:ext uri="{FF2B5EF4-FFF2-40B4-BE49-F238E27FC236}">
                <a16:creationId xmlns:a16="http://schemas.microsoft.com/office/drawing/2014/main" id="{99331649-BF3A-E3D7-043C-8D55C3149DE4}"/>
              </a:ext>
            </a:extLst>
          </p:cNvPr>
          <p:cNvSpPr/>
          <p:nvPr/>
        </p:nvSpPr>
        <p:spPr>
          <a:xfrm>
            <a:off x="635000" y="279400"/>
            <a:ext cx="7772400" cy="50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l"/>
            <a:r>
              <a:rPr lang="nl-NL" sz="2800" b="1" dirty="0">
                <a:solidFill>
                  <a:srgbClr val="1A1A1A"/>
                </a:solidFill>
                <a:latin typeface="Trebuchet MS"/>
              </a:rPr>
              <a:t>Manieren van ondersteunen</a:t>
            </a:r>
          </a:p>
        </p:txBody>
      </p:sp>
      <p:sp>
        <p:nvSpPr>
          <p:cNvPr id="57" name="R57">
            <a:extLst>
              <a:ext uri="{FF2B5EF4-FFF2-40B4-BE49-F238E27FC236}">
                <a16:creationId xmlns:a16="http://schemas.microsoft.com/office/drawing/2014/main" id="{C61BD38A-F31F-05A5-73E4-AD076145FDAF}"/>
              </a:ext>
            </a:extLst>
          </p:cNvPr>
          <p:cNvSpPr/>
          <p:nvPr/>
        </p:nvSpPr>
        <p:spPr>
          <a:xfrm>
            <a:off x="625856" y="1930938"/>
            <a:ext cx="3746500" cy="1855694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nl-NL"/>
          </a:p>
        </p:txBody>
      </p:sp>
      <p:sp>
        <p:nvSpPr>
          <p:cNvPr id="58" name="T58">
            <a:extLst>
              <a:ext uri="{FF2B5EF4-FFF2-40B4-BE49-F238E27FC236}">
                <a16:creationId xmlns:a16="http://schemas.microsoft.com/office/drawing/2014/main" id="{A8C6980B-C4BC-A970-9042-BCDE14A2F6BC}"/>
              </a:ext>
            </a:extLst>
          </p:cNvPr>
          <p:cNvSpPr/>
          <p:nvPr/>
        </p:nvSpPr>
        <p:spPr>
          <a:xfrm>
            <a:off x="689356" y="1970532"/>
            <a:ext cx="3619500" cy="17526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/>
          <a:lstStyle/>
          <a:p>
            <a:pPr algn="ctr"/>
            <a:r>
              <a:rPr lang="nl-NL" sz="1800" b="1" dirty="0">
                <a:solidFill>
                  <a:srgbClr val="5B8DB8"/>
                </a:solidFill>
                <a:latin typeface="Trebuchet MS"/>
              </a:rPr>
              <a:t>In regie</a:t>
            </a:r>
          </a:p>
          <a:p>
            <a:pPr algn="l"/>
            <a:endParaRPr lang="nl-NL" sz="1800" b="1" dirty="0">
              <a:solidFill>
                <a:srgbClr val="5B8DB8"/>
              </a:solidFill>
              <a:latin typeface="Trebuchet MS"/>
            </a:endParaRPr>
          </a:p>
          <a:p>
            <a:pPr algn="ctr">
              <a:spcBef>
                <a:spcPts val="200"/>
              </a:spcBef>
            </a:pPr>
            <a:r>
              <a:rPr lang="nl-NL" sz="1400" dirty="0">
                <a:solidFill>
                  <a:srgbClr val="4A4A4A"/>
                </a:solidFill>
                <a:latin typeface="Calibri"/>
              </a:rPr>
              <a:t>Sessies van +- halve dag</a:t>
            </a:r>
          </a:p>
          <a:p>
            <a:pPr algn="ctr">
              <a:spcBef>
                <a:spcPts val="100"/>
              </a:spcBef>
            </a:pPr>
            <a:r>
              <a:rPr lang="nl-NL" sz="1400" dirty="0">
                <a:solidFill>
                  <a:srgbClr val="4A4A4A"/>
                </a:solidFill>
                <a:latin typeface="Calibri"/>
              </a:rPr>
              <a:t>Ideaal voor gerichte </a:t>
            </a:r>
            <a:r>
              <a:rPr lang="nl-NL" sz="1400" dirty="0" err="1">
                <a:solidFill>
                  <a:srgbClr val="4A4A4A"/>
                </a:solidFill>
                <a:latin typeface="Calibri"/>
              </a:rPr>
              <a:t>quick</a:t>
            </a:r>
            <a:r>
              <a:rPr lang="nl-NL" sz="1400" dirty="0">
                <a:solidFill>
                  <a:srgbClr val="4A4A4A"/>
                </a:solidFill>
                <a:latin typeface="Calibri"/>
              </a:rPr>
              <a:t> </a:t>
            </a:r>
            <a:r>
              <a:rPr lang="nl-NL" sz="1400" dirty="0" err="1">
                <a:solidFill>
                  <a:srgbClr val="4A4A4A"/>
                </a:solidFill>
                <a:latin typeface="Calibri"/>
              </a:rPr>
              <a:t>wins</a:t>
            </a:r>
            <a:endParaRPr lang="nl-NL" sz="1400" dirty="0">
              <a:solidFill>
                <a:srgbClr val="4A4A4A"/>
              </a:solidFill>
              <a:latin typeface="Calibri"/>
            </a:endParaRPr>
          </a:p>
          <a:p>
            <a:pPr algn="ctr">
              <a:spcBef>
                <a:spcPts val="100"/>
              </a:spcBef>
            </a:pPr>
            <a:r>
              <a:rPr lang="nl-NL" sz="1400" dirty="0">
                <a:solidFill>
                  <a:srgbClr val="4A4A4A"/>
                </a:solidFill>
              </a:rPr>
              <a:t>Garantie op &gt;= 1 concreet resultaat</a:t>
            </a:r>
          </a:p>
        </p:txBody>
      </p:sp>
      <p:sp>
        <p:nvSpPr>
          <p:cNvPr id="59" name="R59">
            <a:extLst>
              <a:ext uri="{FF2B5EF4-FFF2-40B4-BE49-F238E27FC236}">
                <a16:creationId xmlns:a16="http://schemas.microsoft.com/office/drawing/2014/main" id="{9142FC0F-4EA9-D601-01EB-46AC17936ECF}"/>
              </a:ext>
            </a:extLst>
          </p:cNvPr>
          <p:cNvSpPr/>
          <p:nvPr/>
        </p:nvSpPr>
        <p:spPr>
          <a:xfrm>
            <a:off x="4753356" y="1930938"/>
            <a:ext cx="3746500" cy="1855694"/>
          </a:xfrm>
          <a:prstGeom prst="roundRect">
            <a:avLst>
              <a:gd name="adj" fmla="val 5000"/>
            </a:avLst>
          </a:prstGeom>
          <a:solidFill>
            <a:srgbClr val="F0F5FA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nl-NL"/>
          </a:p>
        </p:txBody>
      </p:sp>
      <p:sp>
        <p:nvSpPr>
          <p:cNvPr id="60" name="T60">
            <a:extLst>
              <a:ext uri="{FF2B5EF4-FFF2-40B4-BE49-F238E27FC236}">
                <a16:creationId xmlns:a16="http://schemas.microsoft.com/office/drawing/2014/main" id="{83A0E22D-5890-826F-FE32-195B307FE439}"/>
              </a:ext>
            </a:extLst>
          </p:cNvPr>
          <p:cNvSpPr/>
          <p:nvPr/>
        </p:nvSpPr>
        <p:spPr>
          <a:xfrm>
            <a:off x="4816856" y="1970532"/>
            <a:ext cx="3619500" cy="17526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/>
          <a:lstStyle/>
          <a:p>
            <a:pPr algn="ctr"/>
            <a:r>
              <a:rPr lang="nl-NL" sz="1800" b="1" dirty="0">
                <a:solidFill>
                  <a:srgbClr val="5B8DB8"/>
                </a:solidFill>
                <a:latin typeface="Trebuchet MS"/>
              </a:rPr>
              <a:t>Vaste scope</a:t>
            </a:r>
          </a:p>
          <a:p>
            <a:pPr algn="l"/>
            <a:endParaRPr lang="nl-NL" sz="1800" b="1" dirty="0">
              <a:solidFill>
                <a:srgbClr val="5B8DB8"/>
              </a:solidFill>
              <a:latin typeface="Trebuchet MS"/>
            </a:endParaRPr>
          </a:p>
          <a:p>
            <a:pPr algn="ctr">
              <a:spcBef>
                <a:spcPts val="200"/>
              </a:spcBef>
            </a:pPr>
            <a:r>
              <a:rPr lang="nl-NL" sz="1400" dirty="0">
                <a:solidFill>
                  <a:srgbClr val="4A4A4A"/>
                </a:solidFill>
                <a:latin typeface="Calibri"/>
              </a:rPr>
              <a:t>Nood aan een eigen tool</a:t>
            </a:r>
          </a:p>
          <a:p>
            <a:pPr algn="ctr">
              <a:spcBef>
                <a:spcPts val="100"/>
              </a:spcBef>
            </a:pPr>
            <a:r>
              <a:rPr lang="nl-NL" sz="1400" dirty="0">
                <a:solidFill>
                  <a:srgbClr val="4A4A4A"/>
                </a:solidFill>
                <a:latin typeface="Calibri"/>
              </a:rPr>
              <a:t>Scope bepalen en waarderen</a:t>
            </a:r>
          </a:p>
          <a:p>
            <a:pPr algn="ctr">
              <a:spcBef>
                <a:spcPts val="100"/>
              </a:spcBef>
            </a:pPr>
            <a:r>
              <a:rPr lang="nl-NL" sz="1400" dirty="0">
                <a:solidFill>
                  <a:srgbClr val="4A4A4A"/>
                </a:solidFill>
                <a:latin typeface="Calibri"/>
              </a:rPr>
              <a:t>Wim bouwt de basis -&gt; overdracht</a:t>
            </a:r>
          </a:p>
        </p:txBody>
      </p:sp>
      <p:sp>
        <p:nvSpPr>
          <p:cNvPr id="61" name="T61">
            <a:extLst>
              <a:ext uri="{FF2B5EF4-FFF2-40B4-BE49-F238E27FC236}">
                <a16:creationId xmlns:a16="http://schemas.microsoft.com/office/drawing/2014/main" id="{F4F66812-B681-7F0B-DB55-79A767EBCAB3}"/>
              </a:ext>
            </a:extLst>
          </p:cNvPr>
          <p:cNvSpPr/>
          <p:nvPr/>
        </p:nvSpPr>
        <p:spPr>
          <a:xfrm>
            <a:off x="8407400" y="4749800"/>
            <a:ext cx="457200" cy="2794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r"/>
            <a:r>
              <a:rPr lang="nl-NL" sz="1400" dirty="0">
                <a:solidFill>
                  <a:srgbClr val="AAAAAA"/>
                </a:solidFill>
                <a:latin typeface="Calibri"/>
              </a:rPr>
              <a:t>7A</a:t>
            </a:r>
          </a:p>
        </p:txBody>
      </p:sp>
      <p:sp>
        <p:nvSpPr>
          <p:cNvPr id="2" name="R57">
            <a:extLst>
              <a:ext uri="{FF2B5EF4-FFF2-40B4-BE49-F238E27FC236}">
                <a16:creationId xmlns:a16="http://schemas.microsoft.com/office/drawing/2014/main" id="{F425F52B-DA33-9918-3A55-73741AA8FD2E}"/>
              </a:ext>
            </a:extLst>
          </p:cNvPr>
          <p:cNvSpPr/>
          <p:nvPr/>
        </p:nvSpPr>
        <p:spPr>
          <a:xfrm>
            <a:off x="650240" y="4058442"/>
            <a:ext cx="3720592" cy="723870"/>
          </a:xfrm>
          <a:prstGeom prst="roundRect">
            <a:avLst>
              <a:gd name="adj" fmla="val 5000"/>
            </a:avLst>
          </a:prstGeom>
          <a:solidFill>
            <a:srgbClr val="F0F5FA">
              <a:alpha val="50000"/>
            </a:srgbClr>
          </a:solidFill>
          <a:ln>
            <a:noFill/>
          </a:ln>
        </p:spPr>
        <p:txBody>
          <a:bodyPr/>
          <a:lstStyle/>
          <a:p>
            <a:pPr algn="ctr"/>
            <a:r>
              <a:rPr lang="nl-NL" sz="1400" b="1" dirty="0">
                <a:solidFill>
                  <a:srgbClr val="5B8DB8"/>
                </a:solidFill>
                <a:latin typeface="Trebuchet MS"/>
              </a:rPr>
              <a:t>Quick scan</a:t>
            </a:r>
          </a:p>
          <a:p>
            <a:pPr algn="ctr">
              <a:spcBef>
                <a:spcPts val="200"/>
              </a:spcBef>
            </a:pPr>
            <a:r>
              <a:rPr lang="nl-NL" sz="1100" dirty="0">
                <a:solidFill>
                  <a:srgbClr val="4A4A4A"/>
                </a:solidFill>
              </a:rPr>
              <a:t>Een extra duwtje nodig?</a:t>
            </a:r>
          </a:p>
          <a:p>
            <a:pPr algn="ctr">
              <a:spcBef>
                <a:spcPts val="200"/>
              </a:spcBef>
            </a:pPr>
            <a:r>
              <a:rPr lang="nl-NL" sz="1100" dirty="0">
                <a:solidFill>
                  <a:srgbClr val="4A4A4A"/>
                </a:solidFill>
              </a:rPr>
              <a:t>Op 1-1,5u een concreet beeld.</a:t>
            </a:r>
          </a:p>
        </p:txBody>
      </p:sp>
      <p:sp>
        <p:nvSpPr>
          <p:cNvPr id="3" name="R57">
            <a:extLst>
              <a:ext uri="{FF2B5EF4-FFF2-40B4-BE49-F238E27FC236}">
                <a16:creationId xmlns:a16="http://schemas.microsoft.com/office/drawing/2014/main" id="{F8A1B840-8915-8B78-0E71-9AECE515EF80}"/>
              </a:ext>
            </a:extLst>
          </p:cNvPr>
          <p:cNvSpPr/>
          <p:nvPr/>
        </p:nvSpPr>
        <p:spPr>
          <a:xfrm>
            <a:off x="4771136" y="4046250"/>
            <a:ext cx="3720592" cy="726918"/>
          </a:xfrm>
          <a:prstGeom prst="roundRect">
            <a:avLst>
              <a:gd name="adj" fmla="val 5000"/>
            </a:avLst>
          </a:prstGeom>
          <a:solidFill>
            <a:srgbClr val="F0F5FA">
              <a:alpha val="50000"/>
            </a:srgbClr>
          </a:solidFill>
          <a:ln>
            <a:noFill/>
          </a:ln>
        </p:spPr>
        <p:txBody>
          <a:bodyPr/>
          <a:lstStyle/>
          <a:p>
            <a:pPr algn="ctr"/>
            <a:r>
              <a:rPr lang="nl-NL" sz="1400" b="1" dirty="0">
                <a:solidFill>
                  <a:srgbClr val="5B8DB8"/>
                </a:solidFill>
                <a:latin typeface="Trebuchet MS"/>
              </a:rPr>
              <a:t>Check-in</a:t>
            </a:r>
          </a:p>
          <a:p>
            <a:pPr algn="ctr">
              <a:spcBef>
                <a:spcPts val="200"/>
              </a:spcBef>
            </a:pPr>
            <a:r>
              <a:rPr lang="nl-NL" sz="1100" dirty="0">
                <a:solidFill>
                  <a:srgbClr val="4A4A4A"/>
                </a:solidFill>
              </a:rPr>
              <a:t>Toch graag opvolging?</a:t>
            </a:r>
          </a:p>
          <a:p>
            <a:pPr algn="ctr">
              <a:spcBef>
                <a:spcPts val="200"/>
              </a:spcBef>
            </a:pPr>
            <a:r>
              <a:rPr lang="nl-NL" sz="1100" dirty="0">
                <a:solidFill>
                  <a:srgbClr val="4A4A4A"/>
                </a:solidFill>
              </a:rPr>
              <a:t>(bv 30 min, 2-wekelijks)</a:t>
            </a:r>
          </a:p>
          <a:p>
            <a:pPr algn="ctr">
              <a:spcBef>
                <a:spcPts val="200"/>
              </a:spcBef>
            </a:pPr>
            <a:endParaRPr lang="nl-NL" sz="1100" dirty="0">
              <a:solidFill>
                <a:srgbClr val="4A4A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12808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>
            <a:extLst>
              <a:ext uri="{FF2B5EF4-FFF2-40B4-BE49-F238E27FC236}">
                <a16:creationId xmlns:a16="http://schemas.microsoft.com/office/drawing/2014/main" id="{8004404B-92E0-E241-A2DB-DBAA3E9A652D}"/>
              </a:ext>
            </a:extLst>
          </p:cNvPr>
          <p:cNvSpPr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5B8D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BE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FC4E99D5-61F2-9140-B3B4-CFCFF9F3FA25}"/>
              </a:ext>
            </a:extLst>
          </p:cNvPr>
          <p:cNvSpPr txBox="1"/>
          <p:nvPr/>
        </p:nvSpPr>
        <p:spPr>
          <a:xfrm>
            <a:off x="635000" y="279400"/>
            <a:ext cx="77724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BE" sz="2800" b="1" dirty="0">
                <a:solidFill>
                  <a:srgbClr val="1A1A1A"/>
                </a:solidFill>
                <a:latin typeface="Trebuchet MS"/>
              </a:rPr>
              <a:t>Model 1 — in regie</a:t>
            </a:r>
          </a:p>
        </p:txBody>
      </p:sp>
      <p:sp>
        <p:nvSpPr>
          <p:cNvPr id="50" name="R50"/>
          <p:cNvSpPr/>
          <p:nvPr/>
        </p:nvSpPr>
        <p:spPr>
          <a:xfrm>
            <a:off x="651510" y="990600"/>
            <a:ext cx="7857490" cy="3821430"/>
          </a:xfrm>
          <a:prstGeom prst="roundRect">
            <a:avLst>
              <a:gd name="adj" fmla="val 6000"/>
            </a:avLst>
          </a:prstGeom>
          <a:solidFill>
            <a:srgbClr val="D6E6F2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51" name="T51"/>
          <p:cNvSpPr/>
          <p:nvPr/>
        </p:nvSpPr>
        <p:spPr>
          <a:xfrm>
            <a:off x="889000" y="1206500"/>
            <a:ext cx="7366000" cy="3302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l"/>
            <a:r>
              <a:rPr lang="nl-NL" sz="1700" b="1" dirty="0">
                <a:solidFill>
                  <a:srgbClr val="1A1A1A"/>
                </a:solidFill>
                <a:latin typeface="Trebuchet MS"/>
              </a:rPr>
              <a:t>⏱️  Voorzie +- 3 à 4 uur per sessie</a:t>
            </a:r>
          </a:p>
        </p:txBody>
      </p:sp>
      <p:sp>
        <p:nvSpPr>
          <p:cNvPr id="52" name="T52"/>
          <p:cNvSpPr/>
          <p:nvPr/>
        </p:nvSpPr>
        <p:spPr>
          <a:xfrm>
            <a:off x="1333500" y="1587500"/>
            <a:ext cx="6921500" cy="3302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l"/>
            <a:r>
              <a:rPr lang="nl-NL" sz="1500" dirty="0">
                <a:solidFill>
                  <a:srgbClr val="4A4A4A"/>
                </a:solidFill>
                <a:latin typeface="Calibri"/>
              </a:rPr>
              <a:t>Niet té lang, toch genoeg tijd om echt iets concreets te realiseren.</a:t>
            </a:r>
          </a:p>
        </p:txBody>
      </p:sp>
      <p:sp>
        <p:nvSpPr>
          <p:cNvPr id="53" name="T53"/>
          <p:cNvSpPr/>
          <p:nvPr/>
        </p:nvSpPr>
        <p:spPr>
          <a:xfrm>
            <a:off x="889000" y="2159000"/>
            <a:ext cx="7366000" cy="3302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l"/>
            <a:r>
              <a:rPr lang="nl-NL" sz="1700" b="1" dirty="0">
                <a:solidFill>
                  <a:srgbClr val="1A1A1A"/>
                </a:solidFill>
                <a:latin typeface="Trebuchet MS"/>
              </a:rPr>
              <a:t>✅  Einde sessie = resultaat</a:t>
            </a:r>
          </a:p>
        </p:txBody>
      </p:sp>
      <p:sp>
        <p:nvSpPr>
          <p:cNvPr id="54" name="T54"/>
          <p:cNvSpPr/>
          <p:nvPr/>
        </p:nvSpPr>
        <p:spPr>
          <a:xfrm>
            <a:off x="1333500" y="2540000"/>
            <a:ext cx="6921500" cy="3302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l"/>
            <a:r>
              <a:rPr lang="nl-NL" sz="1500" dirty="0">
                <a:solidFill>
                  <a:srgbClr val="4A4A4A"/>
                </a:solidFill>
                <a:latin typeface="Calibri"/>
              </a:rPr>
              <a:t>Je vertrekt altijd met minstens 1 concrete oplossing of deliverable.</a:t>
            </a:r>
          </a:p>
        </p:txBody>
      </p:sp>
      <p:sp>
        <p:nvSpPr>
          <p:cNvPr id="55" name="T55"/>
          <p:cNvSpPr/>
          <p:nvPr/>
        </p:nvSpPr>
        <p:spPr>
          <a:xfrm>
            <a:off x="889000" y="3111500"/>
            <a:ext cx="7366000" cy="3302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l"/>
            <a:r>
              <a:rPr lang="nl-NL" sz="1700" b="1" dirty="0">
                <a:solidFill>
                  <a:srgbClr val="1A1A1A"/>
                </a:solidFill>
                <a:latin typeface="Trebuchet MS"/>
              </a:rPr>
              <a:t>🔄  Flexibel en op jouw tempo</a:t>
            </a:r>
          </a:p>
        </p:txBody>
      </p:sp>
      <p:sp>
        <p:nvSpPr>
          <p:cNvPr id="56" name="T56"/>
          <p:cNvSpPr/>
          <p:nvPr/>
        </p:nvSpPr>
        <p:spPr>
          <a:xfrm>
            <a:off x="1333500" y="3492500"/>
            <a:ext cx="6921500" cy="3302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l"/>
            <a:r>
              <a:rPr lang="nl-NL" sz="1500" dirty="0">
                <a:solidFill>
                  <a:srgbClr val="4A4A4A"/>
                </a:solidFill>
                <a:latin typeface="Calibri"/>
              </a:rPr>
              <a:t>We bepalen samen wanneer en hoe vaak, met zelfstandigheid als einddoel. </a:t>
            </a:r>
          </a:p>
        </p:txBody>
      </p:sp>
      <p:sp>
        <p:nvSpPr>
          <p:cNvPr id="57" name="T57"/>
          <p:cNvSpPr/>
          <p:nvPr/>
        </p:nvSpPr>
        <p:spPr>
          <a:xfrm>
            <a:off x="8407400" y="4749800"/>
            <a:ext cx="457200" cy="2794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r"/>
            <a:r>
              <a:rPr lang="nl-NL" sz="1400" dirty="0">
                <a:solidFill>
                  <a:srgbClr val="AAAAAA"/>
                </a:solidFill>
                <a:latin typeface="Calibri"/>
              </a:rPr>
              <a:t>8</a:t>
            </a:r>
          </a:p>
        </p:txBody>
      </p:sp>
      <p:sp>
        <p:nvSpPr>
          <p:cNvPr id="4" name="T55">
            <a:extLst>
              <a:ext uri="{FF2B5EF4-FFF2-40B4-BE49-F238E27FC236}">
                <a16:creationId xmlns:a16="http://schemas.microsoft.com/office/drawing/2014/main" id="{6EE9DCF1-E07C-2AC3-6F47-C385CB225F28}"/>
              </a:ext>
            </a:extLst>
          </p:cNvPr>
          <p:cNvSpPr/>
          <p:nvPr/>
        </p:nvSpPr>
        <p:spPr>
          <a:xfrm>
            <a:off x="915670" y="4018280"/>
            <a:ext cx="7366000" cy="3302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r>
              <a:rPr lang="en-US" dirty="0">
                <a:solidFill>
                  <a:srgbClr val="000000"/>
                </a:solidFill>
              </a:rPr>
              <a:t>🎯</a:t>
            </a:r>
            <a:r>
              <a:rPr lang="nl-NL" sz="1700" b="1" dirty="0">
                <a:solidFill>
                  <a:srgbClr val="1A1A1A"/>
                </a:solidFill>
                <a:latin typeface="Trebuchet MS"/>
              </a:rPr>
              <a:t>  Focus op kleinere, afgelijnde aanpassingen </a:t>
            </a:r>
          </a:p>
        </p:txBody>
      </p:sp>
      <p:sp>
        <p:nvSpPr>
          <p:cNvPr id="5" name="T56">
            <a:extLst>
              <a:ext uri="{FF2B5EF4-FFF2-40B4-BE49-F238E27FC236}">
                <a16:creationId xmlns:a16="http://schemas.microsoft.com/office/drawing/2014/main" id="{A3DB02F3-DC56-E7E8-F9DC-4B264E7AD826}"/>
              </a:ext>
            </a:extLst>
          </p:cNvPr>
          <p:cNvSpPr/>
          <p:nvPr/>
        </p:nvSpPr>
        <p:spPr>
          <a:xfrm>
            <a:off x="1360170" y="4399280"/>
            <a:ext cx="6921500" cy="3302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l"/>
            <a:r>
              <a:rPr lang="nl-NL" sz="1500" dirty="0">
                <a:solidFill>
                  <a:srgbClr val="4A4A4A"/>
                </a:solidFill>
                <a:latin typeface="Calibri"/>
              </a:rPr>
              <a:t>We identificeren specifieke taken en sturen bij – ‘low </a:t>
            </a:r>
            <a:r>
              <a:rPr lang="nl-NL" sz="1500" dirty="0" err="1">
                <a:solidFill>
                  <a:srgbClr val="4A4A4A"/>
                </a:solidFill>
                <a:latin typeface="Calibri"/>
              </a:rPr>
              <a:t>hanging</a:t>
            </a:r>
            <a:r>
              <a:rPr lang="nl-NL" sz="1500" dirty="0">
                <a:solidFill>
                  <a:srgbClr val="4A4A4A"/>
                </a:solidFill>
                <a:latin typeface="Calibri"/>
              </a:rPr>
              <a:t> fruit’</a:t>
            </a:r>
          </a:p>
        </p:txBody>
      </p:sp>
    </p:spTree>
    <p:extLst>
      <p:ext uri="{BB962C8B-B14F-4D97-AF65-F5344CB8AC3E}">
        <p14:creationId xmlns:p14="http://schemas.microsoft.com/office/powerpoint/2010/main" val="36566770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fgeronde rechthoek 4">
            <a:extLst>
              <a:ext uri="{FF2B5EF4-FFF2-40B4-BE49-F238E27FC236}">
                <a16:creationId xmlns:a16="http://schemas.microsoft.com/office/drawing/2014/main" id="{B3D003A9-413F-054D-A637-D34FE69981DA}"/>
              </a:ext>
            </a:extLst>
          </p:cNvPr>
          <p:cNvSpPr/>
          <p:nvPr/>
        </p:nvSpPr>
        <p:spPr>
          <a:xfrm>
            <a:off x="647700" y="990600"/>
            <a:ext cx="7861300" cy="3784600"/>
          </a:xfrm>
          <a:prstGeom prst="roundRect">
            <a:avLst/>
          </a:prstGeom>
          <a:solidFill>
            <a:srgbClr val="D6E6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BE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ABE0F9DD-E437-6045-AF5C-B5C13AAB19CB}"/>
              </a:ext>
            </a:extLst>
          </p:cNvPr>
          <p:cNvSpPr txBox="1"/>
          <p:nvPr/>
        </p:nvSpPr>
        <p:spPr>
          <a:xfrm>
            <a:off x="635000" y="279400"/>
            <a:ext cx="77724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BE" sz="2800" b="1" dirty="0">
                <a:solidFill>
                  <a:srgbClr val="1A1A1A"/>
                </a:solidFill>
                <a:latin typeface="Trebuchet MS"/>
              </a:rPr>
              <a:t>Model 2 — vaste scope</a:t>
            </a:r>
          </a:p>
        </p:txBody>
      </p:sp>
      <p:sp>
        <p:nvSpPr>
          <p:cNvPr id="66" name="T66"/>
          <p:cNvSpPr/>
          <p:nvPr/>
        </p:nvSpPr>
        <p:spPr>
          <a:xfrm>
            <a:off x="8407400" y="4749800"/>
            <a:ext cx="457200" cy="2794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r"/>
            <a:r>
              <a:rPr lang="nl-NL" sz="1400" dirty="0">
                <a:solidFill>
                  <a:srgbClr val="AAAAAA"/>
                </a:solidFill>
                <a:latin typeface="Calibri"/>
              </a:rPr>
              <a:t>9</a:t>
            </a: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BE2179B2-9ABF-234A-853D-A95ECC263053}"/>
              </a:ext>
            </a:extLst>
          </p:cNvPr>
          <p:cNvSpPr txBox="1"/>
          <p:nvPr/>
        </p:nvSpPr>
        <p:spPr>
          <a:xfrm>
            <a:off x="889000" y="1181100"/>
            <a:ext cx="736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nl-BE" sz="1700" b="1">
                <a:solidFill>
                  <a:srgbClr val="1A1A1A"/>
                </a:solidFill>
                <a:latin typeface="Trebuchet MS"/>
              </a:rPr>
              <a:t>🔍  Nood identificeren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8730C097-281E-704A-B6A7-6B51CAC5A2CB}"/>
              </a:ext>
            </a:extLst>
          </p:cNvPr>
          <p:cNvSpPr txBox="1"/>
          <p:nvPr/>
        </p:nvSpPr>
        <p:spPr>
          <a:xfrm>
            <a:off x="1333500" y="1524000"/>
            <a:ext cx="69215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nl-BE" sz="1500">
                <a:solidFill>
                  <a:srgbClr val="2D2D2D"/>
                </a:solidFill>
                <a:latin typeface="Calibri"/>
                <a:cs typeface="Calibri"/>
              </a:rPr>
              <a:t>Een eigen tool zou je rust geven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6217AB14-FAC3-084F-B901-E277D7A4566C}"/>
              </a:ext>
            </a:extLst>
          </p:cNvPr>
          <p:cNvSpPr txBox="1"/>
          <p:nvPr/>
        </p:nvSpPr>
        <p:spPr>
          <a:xfrm>
            <a:off x="889000" y="1866900"/>
            <a:ext cx="736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nl-BE" sz="1700" b="1">
                <a:solidFill>
                  <a:srgbClr val="1A1A1A"/>
                </a:solidFill>
                <a:latin typeface="Trebuchet MS"/>
              </a:rPr>
              <a:t>📋  Scope bepalen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22D1F089-4996-0642-A3F7-C42EC4BD1950}"/>
              </a:ext>
            </a:extLst>
          </p:cNvPr>
          <p:cNvSpPr txBox="1"/>
          <p:nvPr/>
        </p:nvSpPr>
        <p:spPr>
          <a:xfrm>
            <a:off x="1333500" y="2209800"/>
            <a:ext cx="69215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nl-BE" sz="1500">
                <a:solidFill>
                  <a:srgbClr val="2D2D2D"/>
                </a:solidFill>
                <a:latin typeface="Calibri"/>
                <a:cs typeface="Calibri"/>
              </a:rPr>
              <a:t>Samen de vereisten op hoog niveau vastleggen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9C9C7B59-5289-B840-86EB-10BAF1635490}"/>
              </a:ext>
            </a:extLst>
          </p:cNvPr>
          <p:cNvSpPr txBox="1"/>
          <p:nvPr/>
        </p:nvSpPr>
        <p:spPr>
          <a:xfrm>
            <a:off x="889000" y="2552700"/>
            <a:ext cx="736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nl-BE" sz="1700" b="1">
                <a:solidFill>
                  <a:srgbClr val="1A1A1A"/>
                </a:solidFill>
                <a:latin typeface="Trebuchet MS"/>
              </a:rPr>
              <a:t>💰  Waardering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EF129C18-16EE-0A42-BD00-9C9AE6B78788}"/>
              </a:ext>
            </a:extLst>
          </p:cNvPr>
          <p:cNvSpPr txBox="1"/>
          <p:nvPr/>
        </p:nvSpPr>
        <p:spPr>
          <a:xfrm>
            <a:off x="1333500" y="2895600"/>
            <a:ext cx="69215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nl-BE" sz="1500">
                <a:solidFill>
                  <a:srgbClr val="2D2D2D"/>
                </a:solidFill>
                <a:latin typeface="Calibri"/>
                <a:cs typeface="Calibri"/>
              </a:rPr>
              <a:t>Inschatting effort op basis van de scope</a:t>
            </a: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7DEAB509-6BEB-D044-AEAD-A0824F17E9B2}"/>
              </a:ext>
            </a:extLst>
          </p:cNvPr>
          <p:cNvSpPr txBox="1"/>
          <p:nvPr/>
        </p:nvSpPr>
        <p:spPr>
          <a:xfrm>
            <a:off x="889000" y="3238500"/>
            <a:ext cx="736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nl-BE" sz="1700" b="1">
                <a:solidFill>
                  <a:srgbClr val="1A1A1A"/>
                </a:solidFill>
                <a:latin typeface="Trebuchet MS"/>
              </a:rPr>
              <a:t>🛠️  Wim bouwt</a:t>
            </a: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A7A3357C-CACD-EC47-9774-CABAC1F871BD}"/>
              </a:ext>
            </a:extLst>
          </p:cNvPr>
          <p:cNvSpPr txBox="1"/>
          <p:nvPr/>
        </p:nvSpPr>
        <p:spPr>
          <a:xfrm>
            <a:off x="1333500" y="3581400"/>
            <a:ext cx="69215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nl-BE" sz="1500">
                <a:solidFill>
                  <a:srgbClr val="2D2D2D"/>
                </a:solidFill>
                <a:latin typeface="Calibri"/>
                <a:cs typeface="Calibri"/>
              </a:rPr>
              <a:t>De basis wordt ontwikkeld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0C6E8AC8-A6E1-6D4C-80F5-0790768DB975}"/>
              </a:ext>
            </a:extLst>
          </p:cNvPr>
          <p:cNvSpPr txBox="1"/>
          <p:nvPr/>
        </p:nvSpPr>
        <p:spPr>
          <a:xfrm>
            <a:off x="889000" y="3924300"/>
            <a:ext cx="736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nl-BE" sz="1700" b="1">
                <a:solidFill>
                  <a:srgbClr val="1A1A1A"/>
                </a:solidFill>
                <a:latin typeface="Trebuchet MS"/>
              </a:rPr>
              <a:t>🤝  Overdracht</a:t>
            </a:r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93A411F5-5FE9-A242-B617-AB0595E224CC}"/>
              </a:ext>
            </a:extLst>
          </p:cNvPr>
          <p:cNvSpPr txBox="1"/>
          <p:nvPr/>
        </p:nvSpPr>
        <p:spPr>
          <a:xfrm>
            <a:off x="1333500" y="4267200"/>
            <a:ext cx="69215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nl-BE" sz="1500">
                <a:solidFill>
                  <a:srgbClr val="2D2D2D"/>
                </a:solidFill>
                <a:latin typeface="Calibri"/>
                <a:cs typeface="Calibri"/>
              </a:rPr>
              <a:t>Wim toont hoe jij zelfstandig verder kan</a:t>
            </a:r>
          </a:p>
        </p:txBody>
      </p:sp>
      <p:sp>
        <p:nvSpPr>
          <p:cNvPr id="2" name="Rechthoek 1">
            <a:extLst>
              <a:ext uri="{FF2B5EF4-FFF2-40B4-BE49-F238E27FC236}">
                <a16:creationId xmlns:a16="http://schemas.microsoft.com/office/drawing/2014/main" id="{B409C32C-D985-984E-BA04-0EA5A9B0262A}"/>
              </a:ext>
            </a:extLst>
          </p:cNvPr>
          <p:cNvSpPr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5B8D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494953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>
            <a:extLst>
              <a:ext uri="{FF2B5EF4-FFF2-40B4-BE49-F238E27FC236}">
                <a16:creationId xmlns:a16="http://schemas.microsoft.com/office/drawing/2014/main" id="{CB9C96D5-207F-5C4E-8F97-A7C0CAB76C40}"/>
              </a:ext>
            </a:extLst>
          </p:cNvPr>
          <p:cNvSpPr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5B8D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BE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67A5D087-9873-194B-99C6-8465DEF15B8F}"/>
              </a:ext>
            </a:extLst>
          </p:cNvPr>
          <p:cNvSpPr txBox="1"/>
          <p:nvPr/>
        </p:nvSpPr>
        <p:spPr>
          <a:xfrm>
            <a:off x="635000" y="279400"/>
            <a:ext cx="77724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BE" sz="2800" b="1" dirty="0">
                <a:solidFill>
                  <a:srgbClr val="1A1A1A"/>
                </a:solidFill>
                <a:latin typeface="Trebuchet MS"/>
              </a:rPr>
              <a:t>Waar ondersteunt Wim ?</a:t>
            </a:r>
          </a:p>
        </p:txBody>
      </p:sp>
      <p:sp>
        <p:nvSpPr>
          <p:cNvPr id="50" name="R50"/>
          <p:cNvSpPr/>
          <p:nvPr/>
        </p:nvSpPr>
        <p:spPr>
          <a:xfrm>
            <a:off x="669290" y="1299210"/>
            <a:ext cx="3746500" cy="2449830"/>
          </a:xfrm>
          <a:prstGeom prst="roundRect">
            <a:avLst>
              <a:gd name="adj" fmla="val 6000"/>
            </a:avLst>
          </a:prstGeom>
          <a:solidFill>
            <a:srgbClr val="D6E6F2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51" name="T51"/>
          <p:cNvSpPr/>
          <p:nvPr/>
        </p:nvSpPr>
        <p:spPr>
          <a:xfrm>
            <a:off x="732790" y="1350010"/>
            <a:ext cx="3619500" cy="32385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/>
          <a:lstStyle/>
          <a:p>
            <a:pPr algn="l"/>
            <a:r>
              <a:rPr lang="nl-NL" sz="1800" b="1" dirty="0">
                <a:solidFill>
                  <a:srgbClr val="2C5F7C"/>
                </a:solidFill>
                <a:latin typeface="Trebuchet MS"/>
              </a:rPr>
              <a:t>✅  Wat wel</a:t>
            </a:r>
          </a:p>
          <a:p>
            <a:pPr algn="l"/>
            <a:endParaRPr lang="nl-NL" sz="1800" b="1" dirty="0">
              <a:solidFill>
                <a:srgbClr val="2C5F7C"/>
              </a:solidFill>
              <a:latin typeface="Trebuchet MS"/>
            </a:endParaRPr>
          </a:p>
          <a:p>
            <a:pPr algn="l"/>
            <a:r>
              <a:rPr lang="nl-NL" sz="1500" dirty="0">
                <a:solidFill>
                  <a:srgbClr val="1A1A1A"/>
                </a:solidFill>
                <a:latin typeface="Calibri"/>
              </a:rPr>
              <a:t>Automatisaties &amp; optimalisaties</a:t>
            </a:r>
          </a:p>
          <a:p>
            <a:pPr algn="l"/>
            <a:r>
              <a:rPr lang="nl-NL" sz="1500" dirty="0">
                <a:solidFill>
                  <a:srgbClr val="1A1A1A"/>
                </a:solidFill>
                <a:latin typeface="Calibri"/>
              </a:rPr>
              <a:t>Interne tools bouwen</a:t>
            </a:r>
          </a:p>
          <a:p>
            <a:pPr algn="l"/>
            <a:r>
              <a:rPr lang="nl-NL" sz="1500" dirty="0">
                <a:solidFill>
                  <a:srgbClr val="1A1A1A"/>
                </a:solidFill>
                <a:latin typeface="Calibri"/>
              </a:rPr>
              <a:t>Lokale oplossingen (op eigen systeem)</a:t>
            </a:r>
          </a:p>
          <a:p>
            <a:pPr algn="l"/>
            <a:r>
              <a:rPr lang="nl-NL" sz="1500" dirty="0">
                <a:solidFill>
                  <a:srgbClr val="1A1A1A"/>
                </a:solidFill>
                <a:latin typeface="Calibri"/>
              </a:rPr>
              <a:t>AI integreren in bestaande </a:t>
            </a:r>
            <a:r>
              <a:rPr lang="nl-NL" sz="1500" dirty="0" err="1">
                <a:solidFill>
                  <a:srgbClr val="1A1A1A"/>
                </a:solidFill>
                <a:latin typeface="Calibri"/>
              </a:rPr>
              <a:t>workflows</a:t>
            </a:r>
            <a:endParaRPr lang="nl-NL" sz="1500" dirty="0">
              <a:solidFill>
                <a:srgbClr val="1A1A1A"/>
              </a:solidFill>
              <a:latin typeface="Calibri"/>
            </a:endParaRPr>
          </a:p>
          <a:p>
            <a:pPr algn="l"/>
            <a:endParaRPr lang="nl-NL" sz="1500" dirty="0">
              <a:solidFill>
                <a:srgbClr val="1A1A1A"/>
              </a:solidFill>
              <a:latin typeface="Calibri"/>
            </a:endParaRPr>
          </a:p>
          <a:p>
            <a:pPr algn="l"/>
            <a:r>
              <a:rPr lang="nl-NL" sz="1500" dirty="0">
                <a:solidFill>
                  <a:srgbClr val="1A1A1A"/>
                </a:solidFill>
                <a:latin typeface="Calibri"/>
              </a:rPr>
              <a:t>Coaching naar zelfstandig gebruik</a:t>
            </a:r>
          </a:p>
        </p:txBody>
      </p:sp>
      <p:sp>
        <p:nvSpPr>
          <p:cNvPr id="52" name="R52"/>
          <p:cNvSpPr/>
          <p:nvPr/>
        </p:nvSpPr>
        <p:spPr>
          <a:xfrm>
            <a:off x="4796790" y="1299210"/>
            <a:ext cx="3746500" cy="3365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54" name="T54"/>
          <p:cNvSpPr/>
          <p:nvPr/>
        </p:nvSpPr>
        <p:spPr>
          <a:xfrm>
            <a:off x="8407400" y="4864100"/>
            <a:ext cx="457200" cy="2794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/>
          <a:lstStyle/>
          <a:p>
            <a:pPr algn="r"/>
            <a:r>
              <a:rPr lang="nl-NL" sz="1400" dirty="0">
                <a:solidFill>
                  <a:srgbClr val="AAAAAA"/>
                </a:solidFill>
                <a:latin typeface="Calibri"/>
              </a:rPr>
              <a:t>10</a:t>
            </a:r>
          </a:p>
        </p:txBody>
      </p:sp>
      <p:sp>
        <p:nvSpPr>
          <p:cNvPr id="4" name="R50">
            <a:extLst>
              <a:ext uri="{FF2B5EF4-FFF2-40B4-BE49-F238E27FC236}">
                <a16:creationId xmlns:a16="http://schemas.microsoft.com/office/drawing/2014/main" id="{D5A1F439-5588-B9FC-8C66-9A14CD65B6F9}"/>
              </a:ext>
            </a:extLst>
          </p:cNvPr>
          <p:cNvSpPr/>
          <p:nvPr/>
        </p:nvSpPr>
        <p:spPr>
          <a:xfrm>
            <a:off x="4776470" y="1303020"/>
            <a:ext cx="3746500" cy="2449830"/>
          </a:xfrm>
          <a:prstGeom prst="roundRect">
            <a:avLst>
              <a:gd name="adj" fmla="val 6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nl-NL" sz="2000" b="1" dirty="0">
                <a:solidFill>
                  <a:srgbClr val="4A4A4A"/>
                </a:solidFill>
                <a:latin typeface="Trebuchet MS"/>
              </a:rPr>
              <a:t>❌  </a:t>
            </a:r>
            <a:r>
              <a:rPr lang="nl-NL" b="1" dirty="0">
                <a:latin typeface="Trebuchet MS"/>
              </a:rPr>
              <a:t>Wat niet</a:t>
            </a:r>
          </a:p>
          <a:p>
            <a:endParaRPr lang="nl-NL" sz="2000" b="1" dirty="0">
              <a:solidFill>
                <a:srgbClr val="4A4A4A"/>
              </a:solidFill>
              <a:latin typeface="Trebuchet MS"/>
            </a:endParaRPr>
          </a:p>
          <a:p>
            <a:r>
              <a:rPr lang="nl-NL" sz="1500" dirty="0">
                <a:solidFill>
                  <a:srgbClr val="1A1A1A"/>
                </a:solidFill>
                <a:latin typeface="Calibri"/>
              </a:rPr>
              <a:t>Website &amp; content</a:t>
            </a:r>
          </a:p>
          <a:p>
            <a:r>
              <a:rPr lang="nl-NL" sz="1500" dirty="0">
                <a:solidFill>
                  <a:srgbClr val="1A1A1A"/>
                </a:solidFill>
                <a:latin typeface="Calibri"/>
              </a:rPr>
              <a:t>Digital Marketing (SEO / GEO / SEA / …)</a:t>
            </a:r>
          </a:p>
          <a:p>
            <a:r>
              <a:rPr lang="nl-NL" sz="1500" dirty="0" err="1">
                <a:solidFill>
                  <a:srgbClr val="1A1A1A"/>
                </a:solidFill>
                <a:latin typeface="Calibri"/>
              </a:rPr>
              <a:t>Social</a:t>
            </a:r>
            <a:r>
              <a:rPr lang="nl-NL" sz="1500" dirty="0">
                <a:solidFill>
                  <a:srgbClr val="1A1A1A"/>
                </a:solidFill>
                <a:latin typeface="Calibri"/>
              </a:rPr>
              <a:t> media management</a:t>
            </a:r>
          </a:p>
          <a:p>
            <a:r>
              <a:rPr lang="nl-NL" sz="1500" dirty="0">
                <a:solidFill>
                  <a:srgbClr val="1A1A1A"/>
                </a:solidFill>
                <a:latin typeface="Calibri"/>
              </a:rPr>
              <a:t>Geen IT </a:t>
            </a:r>
            <a:r>
              <a:rPr lang="nl-NL" sz="1500" dirty="0">
                <a:solidFill>
                  <a:srgbClr val="1A1A1A"/>
                </a:solidFill>
              </a:rPr>
              <a:t>Service (Internet, Office,…)</a:t>
            </a:r>
          </a:p>
        </p:txBody>
      </p:sp>
      <p:sp>
        <p:nvSpPr>
          <p:cNvPr id="5" name="R50">
            <a:extLst>
              <a:ext uri="{FF2B5EF4-FFF2-40B4-BE49-F238E27FC236}">
                <a16:creationId xmlns:a16="http://schemas.microsoft.com/office/drawing/2014/main" id="{CD55D6E7-F126-7A64-61C3-054A78DA5C36}"/>
              </a:ext>
            </a:extLst>
          </p:cNvPr>
          <p:cNvSpPr/>
          <p:nvPr/>
        </p:nvSpPr>
        <p:spPr>
          <a:xfrm>
            <a:off x="680720" y="4079240"/>
            <a:ext cx="7874000" cy="732790"/>
          </a:xfrm>
          <a:prstGeom prst="roundRect">
            <a:avLst>
              <a:gd name="adj" fmla="val 6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nl-NL" dirty="0"/>
          </a:p>
        </p:txBody>
      </p:sp>
      <p:sp>
        <p:nvSpPr>
          <p:cNvPr id="6" name="T51">
            <a:extLst>
              <a:ext uri="{FF2B5EF4-FFF2-40B4-BE49-F238E27FC236}">
                <a16:creationId xmlns:a16="http://schemas.microsoft.com/office/drawing/2014/main" id="{6B089BA4-3FF7-B386-A9F1-1AA42D85E552}"/>
              </a:ext>
            </a:extLst>
          </p:cNvPr>
          <p:cNvSpPr/>
          <p:nvPr/>
        </p:nvSpPr>
        <p:spPr>
          <a:xfrm>
            <a:off x="807720" y="4142740"/>
            <a:ext cx="7620000" cy="889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/>
          <a:lstStyle/>
          <a:p>
            <a:r>
              <a:rPr lang="en-US" dirty="0">
                <a:solidFill>
                  <a:srgbClr val="000000"/>
                </a:solidFill>
              </a:rPr>
              <a:t>🤝</a:t>
            </a:r>
            <a:r>
              <a:rPr lang="nl-NL" sz="1700" b="1" dirty="0">
                <a:solidFill>
                  <a:srgbClr val="1A1A1A"/>
                </a:solidFill>
                <a:latin typeface="Trebuchet MS"/>
              </a:rPr>
              <a:t>  Samen akkoord</a:t>
            </a:r>
          </a:p>
          <a:p>
            <a:pPr algn="l"/>
            <a:r>
              <a:rPr lang="nl-NL" sz="1400" dirty="0">
                <a:solidFill>
                  <a:srgbClr val="4A4A4A"/>
                </a:solidFill>
                <a:latin typeface="Calibri"/>
              </a:rPr>
              <a:t>Klant is koning &lt;&gt; Wim bepaalt mee de scope, in functie van risicomitigatie.</a:t>
            </a:r>
          </a:p>
        </p:txBody>
      </p:sp>
    </p:spTree>
    <p:extLst>
      <p:ext uri="{BB962C8B-B14F-4D97-AF65-F5344CB8AC3E}">
        <p14:creationId xmlns:p14="http://schemas.microsoft.com/office/powerpoint/2010/main" val="13910946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>
            <a:extLst>
              <a:ext uri="{FF2B5EF4-FFF2-40B4-BE49-F238E27FC236}">
                <a16:creationId xmlns:a16="http://schemas.microsoft.com/office/drawing/2014/main" id="{FD1CF982-E1C9-1749-8C03-1D69026E48C5}"/>
              </a:ext>
            </a:extLst>
          </p:cNvPr>
          <p:cNvSpPr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5B8D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BE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50DE1310-772F-A54C-B3EC-D33590911964}"/>
              </a:ext>
            </a:extLst>
          </p:cNvPr>
          <p:cNvSpPr txBox="1"/>
          <p:nvPr/>
        </p:nvSpPr>
        <p:spPr>
          <a:xfrm>
            <a:off x="635000" y="279400"/>
            <a:ext cx="77724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BE" sz="2800" b="1">
                <a:solidFill>
                  <a:srgbClr val="1A1A1A"/>
                </a:solidFill>
                <a:latin typeface="Trebuchet MS"/>
              </a:rPr>
              <a:t>Risico's &amp; aandachtspunten</a:t>
            </a:r>
          </a:p>
        </p:txBody>
      </p:sp>
      <p:sp>
        <p:nvSpPr>
          <p:cNvPr id="50" name="R50"/>
          <p:cNvSpPr/>
          <p:nvPr/>
        </p:nvSpPr>
        <p:spPr>
          <a:xfrm>
            <a:off x="635000" y="1016000"/>
            <a:ext cx="5100782" cy="1016000"/>
          </a:xfrm>
          <a:prstGeom prst="roundRect">
            <a:avLst>
              <a:gd name="adj" fmla="val 6000"/>
            </a:avLst>
          </a:prstGeom>
          <a:solidFill>
            <a:srgbClr val="D6E6F2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51" name="T51"/>
          <p:cNvSpPr/>
          <p:nvPr/>
        </p:nvSpPr>
        <p:spPr>
          <a:xfrm>
            <a:off x="762000" y="1079500"/>
            <a:ext cx="7620000" cy="889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/>
          <a:lstStyle/>
          <a:p>
            <a:pPr algn="l"/>
            <a:r>
              <a:rPr lang="nl-NL" sz="1700" b="1" dirty="0">
                <a:solidFill>
                  <a:srgbClr val="1A1A1A"/>
                </a:solidFill>
                <a:latin typeface="Trebuchet MS"/>
              </a:rPr>
              <a:t>⚠️  Kwaliteit &amp; </a:t>
            </a:r>
            <a:r>
              <a:rPr lang="nl-NL" sz="1700" b="1" dirty="0" err="1">
                <a:solidFill>
                  <a:srgbClr val="1A1A1A"/>
                </a:solidFill>
                <a:latin typeface="Trebuchet MS"/>
              </a:rPr>
              <a:t>tech</a:t>
            </a:r>
            <a:r>
              <a:rPr lang="nl-NL" sz="1700" b="1" dirty="0">
                <a:solidFill>
                  <a:srgbClr val="1A1A1A"/>
                </a:solidFill>
                <a:latin typeface="Trebuchet MS"/>
              </a:rPr>
              <a:t> in beweging</a:t>
            </a:r>
          </a:p>
          <a:p>
            <a:pPr algn="l"/>
            <a:r>
              <a:rPr lang="nl-NL" sz="1400" dirty="0">
                <a:solidFill>
                  <a:srgbClr val="4A4A4A"/>
                </a:solidFill>
                <a:latin typeface="Calibri"/>
              </a:rPr>
              <a:t>Geen professionele softwareontwikkeling (</a:t>
            </a:r>
            <a:r>
              <a:rPr lang="nl-NL" sz="1400" dirty="0" err="1">
                <a:solidFill>
                  <a:srgbClr val="4A4A4A"/>
                </a:solidFill>
                <a:latin typeface="Calibri"/>
              </a:rPr>
              <a:t>Vibecoding</a:t>
            </a:r>
            <a:r>
              <a:rPr lang="nl-NL" sz="1400" dirty="0">
                <a:solidFill>
                  <a:srgbClr val="4A4A4A"/>
                </a:solidFill>
                <a:latin typeface="Calibri"/>
              </a:rPr>
              <a:t>)</a:t>
            </a:r>
          </a:p>
          <a:p>
            <a:pPr algn="l"/>
            <a:r>
              <a:rPr lang="nl-NL" sz="1400" dirty="0">
                <a:solidFill>
                  <a:srgbClr val="4A4A4A"/>
                </a:solidFill>
                <a:latin typeface="Calibri"/>
              </a:rPr>
              <a:t>Houd rekening met steile leercurve en soms uitzoekwerk</a:t>
            </a:r>
          </a:p>
        </p:txBody>
      </p:sp>
      <p:sp>
        <p:nvSpPr>
          <p:cNvPr id="52" name="R52"/>
          <p:cNvSpPr/>
          <p:nvPr/>
        </p:nvSpPr>
        <p:spPr>
          <a:xfrm>
            <a:off x="635001" y="2184400"/>
            <a:ext cx="5125720" cy="1016000"/>
          </a:xfrm>
          <a:prstGeom prst="roundRect">
            <a:avLst>
              <a:gd name="adj" fmla="val 6000"/>
            </a:avLst>
          </a:prstGeom>
          <a:solidFill>
            <a:srgbClr val="D6E6F2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53" name="T53"/>
          <p:cNvSpPr/>
          <p:nvPr/>
        </p:nvSpPr>
        <p:spPr>
          <a:xfrm>
            <a:off x="762000" y="2247900"/>
            <a:ext cx="7620000" cy="889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/>
          <a:lstStyle/>
          <a:p>
            <a:pPr algn="l"/>
            <a:r>
              <a:rPr lang="nl-NL" sz="1700" b="1" dirty="0">
                <a:solidFill>
                  <a:srgbClr val="1A1A1A"/>
                </a:solidFill>
                <a:latin typeface="Trebuchet MS"/>
              </a:rPr>
              <a:t>🔒  Security</a:t>
            </a:r>
          </a:p>
          <a:p>
            <a:pPr algn="l"/>
            <a:r>
              <a:rPr lang="nl-NL" sz="1400" dirty="0">
                <a:solidFill>
                  <a:srgbClr val="4A4A4A"/>
                </a:solidFill>
                <a:latin typeface="Calibri"/>
              </a:rPr>
              <a:t>Lokaal gebruik is veilig</a:t>
            </a:r>
          </a:p>
          <a:p>
            <a:pPr algn="l"/>
            <a:r>
              <a:rPr lang="nl-NL" sz="1400" dirty="0">
                <a:solidFill>
                  <a:srgbClr val="4A4A4A"/>
                </a:solidFill>
                <a:latin typeface="Calibri"/>
              </a:rPr>
              <a:t>Focus op aanpassingen aan jouw ‘systeem’</a:t>
            </a:r>
          </a:p>
        </p:txBody>
      </p:sp>
      <p:sp>
        <p:nvSpPr>
          <p:cNvPr id="54" name="R54"/>
          <p:cNvSpPr/>
          <p:nvPr/>
        </p:nvSpPr>
        <p:spPr>
          <a:xfrm>
            <a:off x="659938" y="3361113"/>
            <a:ext cx="5117407" cy="1016000"/>
          </a:xfrm>
          <a:prstGeom prst="roundRect">
            <a:avLst>
              <a:gd name="adj" fmla="val 6000"/>
            </a:avLst>
          </a:prstGeom>
          <a:solidFill>
            <a:srgbClr val="D6E6F2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55" name="T55"/>
          <p:cNvSpPr/>
          <p:nvPr/>
        </p:nvSpPr>
        <p:spPr>
          <a:xfrm>
            <a:off x="762000" y="3416300"/>
            <a:ext cx="4325389" cy="889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/>
          <a:lstStyle/>
          <a:p>
            <a:pPr algn="l"/>
            <a:r>
              <a:rPr lang="nl-NL" sz="1700" b="1" dirty="0">
                <a:solidFill>
                  <a:srgbClr val="1A1A1A"/>
                </a:solidFill>
                <a:latin typeface="Trebuchet MS"/>
              </a:rPr>
              <a:t>📋  Verantwoordelijkheid &amp; licentie</a:t>
            </a:r>
          </a:p>
          <a:p>
            <a:pPr algn="l"/>
            <a:r>
              <a:rPr lang="nl-NL" sz="1400" dirty="0">
                <a:solidFill>
                  <a:srgbClr val="4A4A4A"/>
                </a:solidFill>
                <a:latin typeface="Calibri"/>
              </a:rPr>
              <a:t>Gebruik/data = verantwoordelijkheid klant</a:t>
            </a:r>
          </a:p>
          <a:p>
            <a:pPr algn="l"/>
            <a:r>
              <a:rPr lang="nl-NL" sz="1400" dirty="0">
                <a:solidFill>
                  <a:srgbClr val="4A4A4A"/>
                </a:solidFill>
                <a:latin typeface="Calibri"/>
              </a:rPr>
              <a:t>Licenties voor rekening klant</a:t>
            </a:r>
          </a:p>
        </p:txBody>
      </p:sp>
      <p:sp>
        <p:nvSpPr>
          <p:cNvPr id="56" name="T56"/>
          <p:cNvSpPr/>
          <p:nvPr/>
        </p:nvSpPr>
        <p:spPr>
          <a:xfrm>
            <a:off x="635000" y="4445000"/>
            <a:ext cx="7772400" cy="2794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/>
          <a:lstStyle/>
          <a:p>
            <a:pPr algn="l"/>
            <a:r>
              <a:rPr lang="nl-NL" sz="1500" i="1" dirty="0">
                <a:solidFill>
                  <a:srgbClr val="2C5F7C"/>
                </a:solidFill>
                <a:latin typeface="Calibri"/>
              </a:rPr>
              <a:t>Transparantie staat centraal — geen verrassingen achteraf.</a:t>
            </a:r>
          </a:p>
        </p:txBody>
      </p:sp>
      <p:sp>
        <p:nvSpPr>
          <p:cNvPr id="57" name="T57"/>
          <p:cNvSpPr/>
          <p:nvPr/>
        </p:nvSpPr>
        <p:spPr>
          <a:xfrm>
            <a:off x="8407400" y="4749800"/>
            <a:ext cx="457200" cy="279400"/>
          </a:xfrm>
          <a:prstGeom prst="rect">
            <a:avLst/>
          </a:prstGeom>
          <a:noFill/>
          <a:ln>
            <a:noFill/>
          </a:ln>
        </p:spPr>
        <p:txBody>
          <a:bodyPr wrap="square" lIns="54000" tIns="36000" rIns="54000" bIns="36000" anchor="t"/>
          <a:lstStyle/>
          <a:p>
            <a:pPr algn="r"/>
            <a:r>
              <a:rPr lang="nl-NL" sz="1400" dirty="0">
                <a:solidFill>
                  <a:srgbClr val="AAAAAA"/>
                </a:solidFill>
                <a:latin typeface="Calibri"/>
              </a:rPr>
              <a:t>11</a:t>
            </a:r>
          </a:p>
        </p:txBody>
      </p:sp>
      <p:sp>
        <p:nvSpPr>
          <p:cNvPr id="5" name="R50">
            <a:extLst>
              <a:ext uri="{FF2B5EF4-FFF2-40B4-BE49-F238E27FC236}">
                <a16:creationId xmlns:a16="http://schemas.microsoft.com/office/drawing/2014/main" id="{5AC58BD2-0724-E649-7763-76FE113F0645}"/>
              </a:ext>
            </a:extLst>
          </p:cNvPr>
          <p:cNvSpPr/>
          <p:nvPr/>
        </p:nvSpPr>
        <p:spPr>
          <a:xfrm>
            <a:off x="5910349" y="995449"/>
            <a:ext cx="2701636" cy="3393671"/>
          </a:xfrm>
          <a:prstGeom prst="roundRect">
            <a:avLst>
              <a:gd name="adj" fmla="val 5000"/>
            </a:avLst>
          </a:prstGeom>
          <a:solidFill>
            <a:srgbClr val="EDEFF2"/>
          </a:solidFill>
          <a:ln>
            <a:noFill/>
          </a:ln>
        </p:spPr>
        <p:txBody>
          <a:bodyPr/>
          <a:lstStyle/>
          <a:p>
            <a:endParaRPr lang="nl-NL" sz="1400" dirty="0">
              <a:solidFill>
                <a:srgbClr val="1A1A1A"/>
              </a:solidFill>
              <a:latin typeface="Trebuchet MS"/>
            </a:endParaRPr>
          </a:p>
          <a:p>
            <a:endParaRPr lang="nl-NL" sz="1400" dirty="0">
              <a:solidFill>
                <a:srgbClr val="1A1A1A"/>
              </a:solidFill>
              <a:latin typeface="Trebuchet MS"/>
            </a:endParaRPr>
          </a:p>
          <a:p>
            <a:endParaRPr lang="nl-NL" sz="1400" dirty="0">
              <a:solidFill>
                <a:srgbClr val="1A1A1A"/>
              </a:solidFill>
              <a:latin typeface="Trebuchet MS"/>
            </a:endParaRPr>
          </a:p>
          <a:p>
            <a:endParaRPr lang="nl-NL" sz="1400" dirty="0">
              <a:solidFill>
                <a:srgbClr val="1A1A1A"/>
              </a:solidFill>
              <a:latin typeface="Trebuchet MS"/>
            </a:endParaRPr>
          </a:p>
          <a:p>
            <a:r>
              <a:rPr lang="nl-NL" sz="1400" dirty="0">
                <a:solidFill>
                  <a:srgbClr val="1A1A1A"/>
                </a:solidFill>
                <a:latin typeface="Trebuchet MS"/>
              </a:rPr>
              <a:t>Nood aan bredere </a:t>
            </a:r>
            <a:r>
              <a:rPr lang="nl-NL" sz="1400" dirty="0" err="1">
                <a:solidFill>
                  <a:srgbClr val="1A1A1A"/>
                </a:solidFill>
                <a:latin typeface="Trebuchet MS"/>
              </a:rPr>
              <a:t>ontzorging</a:t>
            </a:r>
            <a:r>
              <a:rPr lang="nl-NL" sz="1400" dirty="0">
                <a:solidFill>
                  <a:srgbClr val="1A1A1A"/>
                </a:solidFill>
                <a:latin typeface="Trebuchet MS"/>
              </a:rPr>
              <a:t>?</a:t>
            </a:r>
          </a:p>
          <a:p>
            <a:endParaRPr lang="nl-NL" sz="1400" dirty="0">
              <a:solidFill>
                <a:srgbClr val="1A1A1A"/>
              </a:solidFill>
              <a:latin typeface="Trebuchet MS"/>
            </a:endParaRPr>
          </a:p>
          <a:p>
            <a:endParaRPr lang="nl-NL" sz="1400" dirty="0">
              <a:solidFill>
                <a:srgbClr val="1A1A1A"/>
              </a:solidFill>
              <a:latin typeface="Trebuchet MS"/>
            </a:endParaRPr>
          </a:p>
          <a:p>
            <a:r>
              <a:rPr lang="nl-NL" sz="1400" dirty="0">
                <a:solidFill>
                  <a:srgbClr val="1A1A1A"/>
                </a:solidFill>
                <a:latin typeface="Trebuchet MS"/>
              </a:rPr>
              <a:t>Advies : grotere partij als partner aanstellen. Wim kan je in contact brengen.</a:t>
            </a:r>
          </a:p>
        </p:txBody>
      </p:sp>
    </p:spTree>
    <p:extLst>
      <p:ext uri="{BB962C8B-B14F-4D97-AF65-F5344CB8AC3E}">
        <p14:creationId xmlns:p14="http://schemas.microsoft.com/office/powerpoint/2010/main" val="27605241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>
            <a:extLst>
              <a:ext uri="{FF2B5EF4-FFF2-40B4-BE49-F238E27FC236}">
                <a16:creationId xmlns:a16="http://schemas.microsoft.com/office/drawing/2014/main" id="{432A25F7-ED8C-2245-BB8E-202FCC2BD34E}"/>
              </a:ext>
            </a:extLst>
          </p:cNvPr>
          <p:cNvSpPr/>
          <p:nvPr/>
        </p:nvSpPr>
        <p:spPr>
          <a:xfrm>
            <a:off x="0" y="0"/>
            <a:ext cx="317500" cy="5143500"/>
          </a:xfrm>
          <a:prstGeom prst="rect">
            <a:avLst/>
          </a:prstGeom>
          <a:solidFill>
            <a:srgbClr val="5B8D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BE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3BA49EED-1460-C941-9632-0F705BA14E2D}"/>
              </a:ext>
            </a:extLst>
          </p:cNvPr>
          <p:cNvSpPr txBox="1"/>
          <p:nvPr/>
        </p:nvSpPr>
        <p:spPr>
          <a:xfrm>
            <a:off x="914400" y="762000"/>
            <a:ext cx="73152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BE" sz="3600" b="1">
                <a:solidFill>
                  <a:srgbClr val="1A1A1A"/>
                </a:solidFill>
                <a:latin typeface="Trebuchet MS"/>
              </a:rPr>
              <a:t>Klaar om te starten?</a:t>
            </a: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403C7A84-FCAC-1F40-8DEB-1EC761683B11}"/>
              </a:ext>
            </a:extLst>
          </p:cNvPr>
          <p:cNvSpPr/>
          <p:nvPr/>
        </p:nvSpPr>
        <p:spPr>
          <a:xfrm>
            <a:off x="914400" y="2349500"/>
            <a:ext cx="4572000" cy="50800"/>
          </a:xfrm>
          <a:prstGeom prst="rect">
            <a:avLst/>
          </a:prstGeom>
          <a:solidFill>
            <a:srgbClr val="5B8D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BE"/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D1D000FA-41A3-E748-AF73-29F03DE20947}"/>
              </a:ext>
            </a:extLst>
          </p:cNvPr>
          <p:cNvSpPr txBox="1"/>
          <p:nvPr/>
        </p:nvSpPr>
        <p:spPr>
          <a:xfrm>
            <a:off x="914400" y="2667000"/>
            <a:ext cx="5080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BE" dirty="0">
                <a:solidFill>
                  <a:srgbClr val="4A4A4A"/>
                </a:solidFill>
                <a:latin typeface="Calibri"/>
                <a:cs typeface="Calibri"/>
              </a:rPr>
              <a:t>✉  wwwim.bv@outlook.com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9E82523-DFFE-7140-8D67-50F431D6067A}"/>
              </a:ext>
            </a:extLst>
          </p:cNvPr>
          <p:cNvSpPr txBox="1"/>
          <p:nvPr/>
        </p:nvSpPr>
        <p:spPr>
          <a:xfrm>
            <a:off x="914400" y="3149600"/>
            <a:ext cx="5080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BE" dirty="0">
                <a:solidFill>
                  <a:srgbClr val="4A4A4A"/>
                </a:solidFill>
                <a:latin typeface="Calibri"/>
                <a:cs typeface="Calibri"/>
              </a:rPr>
              <a:t>🌐  +32 473 56 31 32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E2C42787-D4A1-C241-B3AE-81BCE9274FC0}"/>
              </a:ext>
            </a:extLst>
          </p:cNvPr>
          <p:cNvSpPr txBox="1"/>
          <p:nvPr/>
        </p:nvSpPr>
        <p:spPr>
          <a:xfrm>
            <a:off x="914400" y="4254500"/>
            <a:ext cx="73152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BE" sz="1600" i="1" dirty="0">
                <a:solidFill>
                  <a:srgbClr val="AAAAAA"/>
                </a:solidFill>
                <a:latin typeface="Calibri"/>
                <a:cs typeface="Calibri"/>
              </a:rPr>
              <a:t>Meer tijd voor wat je leuk, nuttig vindt.</a:t>
            </a:r>
          </a:p>
        </p:txBody>
      </p:sp>
    </p:spTree>
    <p:extLst>
      <p:ext uri="{BB962C8B-B14F-4D97-AF65-F5344CB8AC3E}">
        <p14:creationId xmlns:p14="http://schemas.microsoft.com/office/powerpoint/2010/main" val="34037820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1C883-A932-D2B6-B526-334235F66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>
            <a:extLst>
              <a:ext uri="{FF2B5EF4-FFF2-40B4-BE49-F238E27FC236}">
                <a16:creationId xmlns:a16="http://schemas.microsoft.com/office/drawing/2014/main" id="{BC181238-8F8C-0BB8-6659-3A3F1A05FB2E}"/>
              </a:ext>
            </a:extLst>
          </p:cNvPr>
          <p:cNvSpPr/>
          <p:nvPr/>
        </p:nvSpPr>
        <p:spPr>
          <a:xfrm>
            <a:off x="0" y="0"/>
            <a:ext cx="317500" cy="5143500"/>
          </a:xfrm>
          <a:prstGeom prst="rect">
            <a:avLst/>
          </a:prstGeom>
          <a:solidFill>
            <a:srgbClr val="5B8D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BE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8D8195B5-757D-F692-C671-0FF6E683B93E}"/>
              </a:ext>
            </a:extLst>
          </p:cNvPr>
          <p:cNvSpPr txBox="1"/>
          <p:nvPr/>
        </p:nvSpPr>
        <p:spPr>
          <a:xfrm>
            <a:off x="914400" y="762000"/>
            <a:ext cx="73152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l-BE" sz="3600" b="1" dirty="0">
                <a:solidFill>
                  <a:srgbClr val="1A1A1A"/>
                </a:solidFill>
                <a:latin typeface="Trebuchet MS"/>
              </a:rPr>
              <a:t>Wat (negatieve) motivatie </a:t>
            </a:r>
            <a:r>
              <a:rPr lang="nl-BE" sz="3600" b="1" dirty="0">
                <a:solidFill>
                  <a:srgbClr val="1A1A1A"/>
                </a:solidFill>
                <a:latin typeface="Trebuchet MS"/>
                <a:sym typeface="Wingdings" pitchFamily="2" charset="2"/>
              </a:rPr>
              <a:t></a:t>
            </a:r>
            <a:endParaRPr lang="nl-BE" sz="3600" b="1" dirty="0">
              <a:solidFill>
                <a:srgbClr val="1A1A1A"/>
              </a:solidFill>
              <a:latin typeface="Trebuchet MS"/>
            </a:endParaRP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F1F8B575-BCE6-B752-CA1D-F27FE6E52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9658" y="1558423"/>
            <a:ext cx="5438284" cy="3296210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1D83CC07-4166-534F-BD50-461F66AEC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103" y="1620981"/>
            <a:ext cx="2754452" cy="3163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294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A0D2A27-C414-7549-A7B2-F5151AEE498D}">
  <we:reference id="wa200010001" version="1.0.0.1" store="en-US" storeType="OMEX"/>
  <we:alternateReferences>
    <we:reference id="WA200010001" version="1.0.0.1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7135</TotalTime>
  <Words>1367</Words>
  <Application>Microsoft Macintosh PowerPoint</Application>
  <PresentationFormat>Diavoorstelling (16:9)</PresentationFormat>
  <Paragraphs>236</Paragraphs>
  <Slides>24</Slides>
  <Notes>0</Notes>
  <HiddenSlides>7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24</vt:i4>
      </vt:variant>
    </vt:vector>
  </HeadingPairs>
  <TitlesOfParts>
    <vt:vector size="28" baseType="lpstr">
      <vt:lpstr>Arial</vt:lpstr>
      <vt:lpstr>Calibri</vt:lpstr>
      <vt:lpstr>Trebuchet MS</vt:lpstr>
      <vt:lpstr>Office Theme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WWWim — AI voor jouw bedrijf</dc:title>
  <dc:subject>PptxGenJS Presentation</dc:subject>
  <dc:creator>PptxGenJS</dc:creator>
  <cp:lastModifiedBy>Wim Pierson</cp:lastModifiedBy>
  <cp:revision>9</cp:revision>
  <dcterms:created xsi:type="dcterms:W3CDTF">2026-03-10T15:49:37Z</dcterms:created>
  <dcterms:modified xsi:type="dcterms:W3CDTF">2026-04-02T05:30:23Z</dcterms:modified>
</cp:coreProperties>
</file>